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715000" type="screen16x10"/>
  <p:notesSz cx="6858000" cy="9144000"/>
  <p:defaultTextStyle>
    <a:defPPr>
      <a:defRPr lang="id-ID"/>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60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F51BA-E90C-A8D8-3E56-0C1A910127B0}"/>
              </a:ext>
            </a:extLst>
          </p:cNvPr>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id-ID"/>
          </a:p>
        </p:txBody>
      </p:sp>
      <p:sp>
        <p:nvSpPr>
          <p:cNvPr id="3" name="Subtitle 2">
            <a:extLst>
              <a:ext uri="{FF2B5EF4-FFF2-40B4-BE49-F238E27FC236}">
                <a16:creationId xmlns:a16="http://schemas.microsoft.com/office/drawing/2014/main" id="{0A593A85-4608-D47E-CEF6-8755BE2F3E18}"/>
              </a:ext>
            </a:extLst>
          </p:cNvPr>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id-ID"/>
          </a:p>
        </p:txBody>
      </p:sp>
      <p:sp>
        <p:nvSpPr>
          <p:cNvPr id="4" name="Date Placeholder 3">
            <a:extLst>
              <a:ext uri="{FF2B5EF4-FFF2-40B4-BE49-F238E27FC236}">
                <a16:creationId xmlns:a16="http://schemas.microsoft.com/office/drawing/2014/main" id="{C60D40FC-E030-BDD0-0369-398B95194D7B}"/>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5" name="Footer Placeholder 4">
            <a:extLst>
              <a:ext uri="{FF2B5EF4-FFF2-40B4-BE49-F238E27FC236}">
                <a16:creationId xmlns:a16="http://schemas.microsoft.com/office/drawing/2014/main" id="{545AEF80-2853-E4FA-E7BA-1BBB9C2072D0}"/>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D434CF32-A3DF-FA18-457D-BFEEE2ECE2A8}"/>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3839367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92442-6E3A-81EF-69C0-815DE1467C04}"/>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B2A2207C-8CE9-8B6D-FBF6-7F8D73DD3A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2423BBB7-83EA-479E-1685-7D83A1745995}"/>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5" name="Footer Placeholder 4">
            <a:extLst>
              <a:ext uri="{FF2B5EF4-FFF2-40B4-BE49-F238E27FC236}">
                <a16:creationId xmlns:a16="http://schemas.microsoft.com/office/drawing/2014/main" id="{C0AAD494-8136-5205-15CA-D7DF5DE433AE}"/>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8FE0004C-9929-CDD1-36C9-2DE1205D50B6}"/>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2992926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AE853-3E0A-2ABF-0165-3B4494118691}"/>
              </a:ext>
            </a:extLst>
          </p:cNvPr>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id-ID"/>
          </a:p>
        </p:txBody>
      </p:sp>
      <p:sp>
        <p:nvSpPr>
          <p:cNvPr id="3" name="Text Placeholder 2">
            <a:extLst>
              <a:ext uri="{FF2B5EF4-FFF2-40B4-BE49-F238E27FC236}">
                <a16:creationId xmlns:a16="http://schemas.microsoft.com/office/drawing/2014/main" id="{B1BADA79-C455-7FBF-6474-8D7135448B62}"/>
              </a:ext>
            </a:extLst>
          </p:cNvPr>
          <p:cNvSpPr>
            <a:spLocks noGrp="1"/>
          </p:cNvSpPr>
          <p:nvPr>
            <p:ph type="body" idx="1"/>
          </p:nvPr>
        </p:nvSpPr>
        <p:spPr>
          <a:xfrm>
            <a:off x="623888" y="3824553"/>
            <a:ext cx="7886700" cy="1250156"/>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2D5353-82D0-C03F-9247-9CEA3AB6F2A9}"/>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5" name="Footer Placeholder 4">
            <a:extLst>
              <a:ext uri="{FF2B5EF4-FFF2-40B4-BE49-F238E27FC236}">
                <a16:creationId xmlns:a16="http://schemas.microsoft.com/office/drawing/2014/main" id="{AB660EC0-DFA3-4A12-00BF-B5F0A93AFF62}"/>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7CCEACE3-7BB8-D7D2-31F4-14C235352E3E}"/>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973524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E6B03-366F-735F-378B-AF3A85FC5A0C}"/>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950DF781-925B-20BD-FF49-1D356467DF13}"/>
              </a:ext>
            </a:extLst>
          </p:cNvPr>
          <p:cNvSpPr>
            <a:spLocks noGrp="1"/>
          </p:cNvSpPr>
          <p:nvPr>
            <p:ph sz="half" idx="1"/>
          </p:nvPr>
        </p:nvSpPr>
        <p:spPr>
          <a:xfrm>
            <a:off x="6286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a:extLst>
              <a:ext uri="{FF2B5EF4-FFF2-40B4-BE49-F238E27FC236}">
                <a16:creationId xmlns:a16="http://schemas.microsoft.com/office/drawing/2014/main" id="{F79BC0E9-880D-35A5-4C51-6E848E49B4EF}"/>
              </a:ext>
            </a:extLst>
          </p:cNvPr>
          <p:cNvSpPr>
            <a:spLocks noGrp="1"/>
          </p:cNvSpPr>
          <p:nvPr>
            <p:ph sz="half" idx="2"/>
          </p:nvPr>
        </p:nvSpPr>
        <p:spPr>
          <a:xfrm>
            <a:off x="46291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a:extLst>
              <a:ext uri="{FF2B5EF4-FFF2-40B4-BE49-F238E27FC236}">
                <a16:creationId xmlns:a16="http://schemas.microsoft.com/office/drawing/2014/main" id="{608C9B3D-9705-4770-F66B-D4464F7A89AB}"/>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6" name="Footer Placeholder 5">
            <a:extLst>
              <a:ext uri="{FF2B5EF4-FFF2-40B4-BE49-F238E27FC236}">
                <a16:creationId xmlns:a16="http://schemas.microsoft.com/office/drawing/2014/main" id="{66890E1A-EACE-24F7-435A-5E6E0C81ACD3}"/>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6C24B4AE-95CF-9E10-4D38-4AF1D09AEFFB}"/>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3665439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EE3BC-9377-5199-49DF-6559D7F9B10E}"/>
              </a:ext>
            </a:extLst>
          </p:cNvPr>
          <p:cNvSpPr>
            <a:spLocks noGrp="1"/>
          </p:cNvSpPr>
          <p:nvPr>
            <p:ph type="title"/>
          </p:nvPr>
        </p:nvSpPr>
        <p:spPr>
          <a:xfrm>
            <a:off x="629841" y="304271"/>
            <a:ext cx="7886700" cy="1104636"/>
          </a:xfrm>
        </p:spPr>
        <p:txBody>
          <a:bodyPr/>
          <a:lstStyle/>
          <a:p>
            <a:r>
              <a:rPr lang="en-US"/>
              <a:t>Click to edit Master title style</a:t>
            </a:r>
            <a:endParaRPr lang="id-ID"/>
          </a:p>
        </p:txBody>
      </p:sp>
      <p:sp>
        <p:nvSpPr>
          <p:cNvPr id="3" name="Text Placeholder 2">
            <a:extLst>
              <a:ext uri="{FF2B5EF4-FFF2-40B4-BE49-F238E27FC236}">
                <a16:creationId xmlns:a16="http://schemas.microsoft.com/office/drawing/2014/main" id="{F132E4C4-9AFC-1C86-6ADB-4C16DCC85242}"/>
              </a:ext>
            </a:extLst>
          </p:cNvPr>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3C06-D0A0-506F-0733-0818DA3DEE43}"/>
              </a:ext>
            </a:extLst>
          </p:cNvPr>
          <p:cNvSpPr>
            <a:spLocks noGrp="1"/>
          </p:cNvSpPr>
          <p:nvPr>
            <p:ph sz="half" idx="2"/>
          </p:nvPr>
        </p:nvSpPr>
        <p:spPr>
          <a:xfrm>
            <a:off x="629842" y="2087563"/>
            <a:ext cx="3868340"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a:extLst>
              <a:ext uri="{FF2B5EF4-FFF2-40B4-BE49-F238E27FC236}">
                <a16:creationId xmlns:a16="http://schemas.microsoft.com/office/drawing/2014/main" id="{83924563-09DA-E129-BEA5-928E19F77E06}"/>
              </a:ext>
            </a:extLst>
          </p:cNvPr>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F66171F-7562-3299-8DF1-BA36CAC706C3}"/>
              </a:ext>
            </a:extLst>
          </p:cNvPr>
          <p:cNvSpPr>
            <a:spLocks noGrp="1"/>
          </p:cNvSpPr>
          <p:nvPr>
            <p:ph sz="quarter" idx="4"/>
          </p:nvPr>
        </p:nvSpPr>
        <p:spPr>
          <a:xfrm>
            <a:off x="4629150" y="2087563"/>
            <a:ext cx="3887391"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a:extLst>
              <a:ext uri="{FF2B5EF4-FFF2-40B4-BE49-F238E27FC236}">
                <a16:creationId xmlns:a16="http://schemas.microsoft.com/office/drawing/2014/main" id="{7A5A9427-E068-DD93-87E7-3E0CADBA8CC6}"/>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8" name="Footer Placeholder 7">
            <a:extLst>
              <a:ext uri="{FF2B5EF4-FFF2-40B4-BE49-F238E27FC236}">
                <a16:creationId xmlns:a16="http://schemas.microsoft.com/office/drawing/2014/main" id="{DCF01850-C619-CE8A-169E-307E02E02371}"/>
              </a:ext>
            </a:extLst>
          </p:cNvPr>
          <p:cNvSpPr>
            <a:spLocks noGrp="1"/>
          </p:cNvSpPr>
          <p:nvPr>
            <p:ph type="ftr" sz="quarter" idx="11"/>
          </p:nvPr>
        </p:nvSpPr>
        <p:spPr/>
        <p:txBody>
          <a:bodyPr/>
          <a:lstStyle/>
          <a:p>
            <a:endParaRPr lang="id-ID"/>
          </a:p>
        </p:txBody>
      </p:sp>
      <p:sp>
        <p:nvSpPr>
          <p:cNvPr id="9" name="Slide Number Placeholder 8">
            <a:extLst>
              <a:ext uri="{FF2B5EF4-FFF2-40B4-BE49-F238E27FC236}">
                <a16:creationId xmlns:a16="http://schemas.microsoft.com/office/drawing/2014/main" id="{84134DBF-A09B-B98A-2E3D-964516E7A3E3}"/>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3368495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42C3-8201-04F1-07D1-80655772E24A}"/>
              </a:ext>
            </a:extLst>
          </p:cNvPr>
          <p:cNvSpPr>
            <a:spLocks noGrp="1"/>
          </p:cNvSpPr>
          <p:nvPr>
            <p:ph type="title"/>
          </p:nvPr>
        </p:nvSpPr>
        <p:spPr/>
        <p:txBody>
          <a:bodyPr/>
          <a:lstStyle/>
          <a:p>
            <a:r>
              <a:rPr lang="en-US"/>
              <a:t>Click to edit Master title style</a:t>
            </a:r>
            <a:endParaRPr lang="id-ID"/>
          </a:p>
        </p:txBody>
      </p:sp>
      <p:sp>
        <p:nvSpPr>
          <p:cNvPr id="3" name="Date Placeholder 2">
            <a:extLst>
              <a:ext uri="{FF2B5EF4-FFF2-40B4-BE49-F238E27FC236}">
                <a16:creationId xmlns:a16="http://schemas.microsoft.com/office/drawing/2014/main" id="{16FFB659-0E21-FF6C-9332-5C8A8361A24D}"/>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4" name="Footer Placeholder 3">
            <a:extLst>
              <a:ext uri="{FF2B5EF4-FFF2-40B4-BE49-F238E27FC236}">
                <a16:creationId xmlns:a16="http://schemas.microsoft.com/office/drawing/2014/main" id="{165D6388-77F9-6BED-37D2-410EB0F529E8}"/>
              </a:ext>
            </a:extLst>
          </p:cNvPr>
          <p:cNvSpPr>
            <a:spLocks noGrp="1"/>
          </p:cNvSpPr>
          <p:nvPr>
            <p:ph type="ftr" sz="quarter" idx="11"/>
          </p:nvPr>
        </p:nvSpPr>
        <p:spPr/>
        <p:txBody>
          <a:bodyPr/>
          <a:lstStyle/>
          <a:p>
            <a:endParaRPr lang="id-ID"/>
          </a:p>
        </p:txBody>
      </p:sp>
      <p:sp>
        <p:nvSpPr>
          <p:cNvPr id="5" name="Slide Number Placeholder 4">
            <a:extLst>
              <a:ext uri="{FF2B5EF4-FFF2-40B4-BE49-F238E27FC236}">
                <a16:creationId xmlns:a16="http://schemas.microsoft.com/office/drawing/2014/main" id="{BDC614F9-74D9-2211-595E-4B06E4CAC983}"/>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1140045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9798B8-C8A1-EED4-E21D-479F3FFF9976}"/>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3" name="Footer Placeholder 2">
            <a:extLst>
              <a:ext uri="{FF2B5EF4-FFF2-40B4-BE49-F238E27FC236}">
                <a16:creationId xmlns:a16="http://schemas.microsoft.com/office/drawing/2014/main" id="{8958C1F0-0154-3B36-E52F-3AD46F51A843}"/>
              </a:ext>
            </a:extLst>
          </p:cNvPr>
          <p:cNvSpPr>
            <a:spLocks noGrp="1"/>
          </p:cNvSpPr>
          <p:nvPr>
            <p:ph type="ftr" sz="quarter" idx="11"/>
          </p:nvPr>
        </p:nvSpPr>
        <p:spPr/>
        <p:txBody>
          <a:bodyPr/>
          <a:lstStyle/>
          <a:p>
            <a:endParaRPr lang="id-ID"/>
          </a:p>
        </p:txBody>
      </p:sp>
      <p:sp>
        <p:nvSpPr>
          <p:cNvPr id="4" name="Slide Number Placeholder 3">
            <a:extLst>
              <a:ext uri="{FF2B5EF4-FFF2-40B4-BE49-F238E27FC236}">
                <a16:creationId xmlns:a16="http://schemas.microsoft.com/office/drawing/2014/main" id="{D4E896FB-27BD-08CB-557E-E353DB2BE237}"/>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1498731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24226-75F7-F372-8316-66035A85FE67}"/>
              </a:ext>
            </a:extLst>
          </p:cNvPr>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id-ID"/>
          </a:p>
        </p:txBody>
      </p:sp>
      <p:sp>
        <p:nvSpPr>
          <p:cNvPr id="3" name="Content Placeholder 2">
            <a:extLst>
              <a:ext uri="{FF2B5EF4-FFF2-40B4-BE49-F238E27FC236}">
                <a16:creationId xmlns:a16="http://schemas.microsoft.com/office/drawing/2014/main" id="{38EBCEF7-EEBA-ECF1-A7F5-923E0970630C}"/>
              </a:ext>
            </a:extLst>
          </p:cNvPr>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a:extLst>
              <a:ext uri="{FF2B5EF4-FFF2-40B4-BE49-F238E27FC236}">
                <a16:creationId xmlns:a16="http://schemas.microsoft.com/office/drawing/2014/main" id="{E1A20077-EF3B-F5B9-47C9-B1C0B9E657C1}"/>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4DDA5A7-72D8-71AA-2A25-683E60575C93}"/>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6" name="Footer Placeholder 5">
            <a:extLst>
              <a:ext uri="{FF2B5EF4-FFF2-40B4-BE49-F238E27FC236}">
                <a16:creationId xmlns:a16="http://schemas.microsoft.com/office/drawing/2014/main" id="{CB512D14-B0FE-3616-3F5B-12335FABAF6F}"/>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77636A46-EE8A-0C8A-7036-A8BC9F7894A6}"/>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7533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6460-F489-7DC2-903A-481D28EF34F9}"/>
              </a:ext>
            </a:extLst>
          </p:cNvPr>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id-ID"/>
          </a:p>
        </p:txBody>
      </p:sp>
      <p:sp>
        <p:nvSpPr>
          <p:cNvPr id="3" name="Picture Placeholder 2">
            <a:extLst>
              <a:ext uri="{FF2B5EF4-FFF2-40B4-BE49-F238E27FC236}">
                <a16:creationId xmlns:a16="http://schemas.microsoft.com/office/drawing/2014/main" id="{167655FF-609E-5A19-E3F2-B7F23D6E1F99}"/>
              </a:ext>
            </a:extLst>
          </p:cNvPr>
          <p:cNvSpPr>
            <a:spLocks noGrp="1"/>
          </p:cNvSpPr>
          <p:nvPr>
            <p:ph type="pic" idx="1"/>
          </p:nvPr>
        </p:nvSpPr>
        <p:spPr>
          <a:xfrm>
            <a:off x="3887391" y="822855"/>
            <a:ext cx="4629150" cy="406135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id-ID"/>
          </a:p>
        </p:txBody>
      </p:sp>
      <p:sp>
        <p:nvSpPr>
          <p:cNvPr id="4" name="Text Placeholder 3">
            <a:extLst>
              <a:ext uri="{FF2B5EF4-FFF2-40B4-BE49-F238E27FC236}">
                <a16:creationId xmlns:a16="http://schemas.microsoft.com/office/drawing/2014/main" id="{C2544503-7391-AE0B-211F-393EEDF29C3A}"/>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B185F68-D627-F2F9-42A8-4D34DC1B0F31}"/>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6" name="Footer Placeholder 5">
            <a:extLst>
              <a:ext uri="{FF2B5EF4-FFF2-40B4-BE49-F238E27FC236}">
                <a16:creationId xmlns:a16="http://schemas.microsoft.com/office/drawing/2014/main" id="{F6AB4676-CD1D-89D3-F92E-A7CAECECC61E}"/>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A3696583-93B7-892A-5ACA-2C4B289B6FAC}"/>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3932154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CC961-6071-202A-6F07-A550A6219E07}"/>
              </a:ext>
            </a:extLst>
          </p:cNvPr>
          <p:cNvSpPr>
            <a:spLocks noGrp="1"/>
          </p:cNvSpPr>
          <p:nvPr>
            <p:ph type="title"/>
          </p:nvPr>
        </p:nvSpPr>
        <p:spPr/>
        <p:txBody>
          <a:bodyPr/>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8C5B7C63-4331-0012-C868-3749527D00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4544833D-21EA-7C79-C059-BDB7ADAB8750}"/>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5" name="Footer Placeholder 4">
            <a:extLst>
              <a:ext uri="{FF2B5EF4-FFF2-40B4-BE49-F238E27FC236}">
                <a16:creationId xmlns:a16="http://schemas.microsoft.com/office/drawing/2014/main" id="{3C84C94A-53BE-7841-8B01-817FAA99B685}"/>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4B179223-5752-4A0F-FC60-33F50746D9E1}"/>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1400404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4B27A7-1552-1982-0B42-0BE44CC609F0}"/>
              </a:ext>
            </a:extLst>
          </p:cNvPr>
          <p:cNvSpPr>
            <a:spLocks noGrp="1"/>
          </p:cNvSpPr>
          <p:nvPr>
            <p:ph type="title" orient="vert"/>
          </p:nvPr>
        </p:nvSpPr>
        <p:spPr>
          <a:xfrm>
            <a:off x="6543675" y="304271"/>
            <a:ext cx="1971675" cy="4843198"/>
          </a:xfrm>
        </p:spPr>
        <p:txBody>
          <a:bodyPr vert="eaVert"/>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411CBAE1-8CD3-EEB0-64CC-014ACE4CE52A}"/>
              </a:ext>
            </a:extLst>
          </p:cNvPr>
          <p:cNvSpPr>
            <a:spLocks noGrp="1"/>
          </p:cNvSpPr>
          <p:nvPr>
            <p:ph type="body" orient="vert" idx="1"/>
          </p:nvPr>
        </p:nvSpPr>
        <p:spPr>
          <a:xfrm>
            <a:off x="628650" y="304271"/>
            <a:ext cx="5800725" cy="48431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B9CB9F87-247E-0434-2E59-79873A098180}"/>
              </a:ext>
            </a:extLst>
          </p:cNvPr>
          <p:cNvSpPr>
            <a:spLocks noGrp="1"/>
          </p:cNvSpPr>
          <p:nvPr>
            <p:ph type="dt" sz="half" idx="10"/>
          </p:nvPr>
        </p:nvSpPr>
        <p:spPr/>
        <p:txBody>
          <a:bodyPr/>
          <a:lstStyle/>
          <a:p>
            <a:fld id="{EC58FDD2-768D-4302-B038-CB70A2367D3F}" type="datetimeFigureOut">
              <a:rPr lang="id-ID" smtClean="0"/>
              <a:t>07/05/2026</a:t>
            </a:fld>
            <a:endParaRPr lang="id-ID"/>
          </a:p>
        </p:txBody>
      </p:sp>
      <p:sp>
        <p:nvSpPr>
          <p:cNvPr id="5" name="Footer Placeholder 4">
            <a:extLst>
              <a:ext uri="{FF2B5EF4-FFF2-40B4-BE49-F238E27FC236}">
                <a16:creationId xmlns:a16="http://schemas.microsoft.com/office/drawing/2014/main" id="{C049F272-AA2C-EADE-924F-5A9D59E26C8D}"/>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2336F891-7A78-5132-A486-BC68FC30BF24}"/>
              </a:ext>
            </a:extLst>
          </p:cNvPr>
          <p:cNvSpPr>
            <a:spLocks noGrp="1"/>
          </p:cNvSpPr>
          <p:nvPr>
            <p:ph type="sldNum" sz="quarter" idx="12"/>
          </p:nvPr>
        </p:nvSpPr>
        <p:spPr/>
        <p:txBody>
          <a:bodyPr/>
          <a:lstStyle/>
          <a:p>
            <a:fld id="{B049FC00-1158-492C-AEDD-D1D106EEFE0E}" type="slidenum">
              <a:rPr lang="id-ID" smtClean="0"/>
              <a:t>‹#›</a:t>
            </a:fld>
            <a:endParaRPr lang="id-ID"/>
          </a:p>
        </p:txBody>
      </p:sp>
    </p:spTree>
    <p:extLst>
      <p:ext uri="{BB962C8B-B14F-4D97-AF65-F5344CB8AC3E}">
        <p14:creationId xmlns:p14="http://schemas.microsoft.com/office/powerpoint/2010/main" val="3916041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3F07DC-A6A9-30FB-BCB6-1C0D3CB9D4A7}"/>
              </a:ext>
            </a:extLst>
          </p:cNvPr>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a:extLst>
              <a:ext uri="{FF2B5EF4-FFF2-40B4-BE49-F238E27FC236}">
                <a16:creationId xmlns:a16="http://schemas.microsoft.com/office/drawing/2014/main" id="{CB1C6037-D648-8A4E-B9D6-26655D63AE00}"/>
              </a:ext>
            </a:extLst>
          </p:cNvPr>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933BDC61-5257-F1CC-EBED-631FE70BCC21}"/>
              </a:ext>
            </a:extLst>
          </p:cNvPr>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82000"/>
                  </a:schemeClr>
                </a:solidFill>
              </a:defRPr>
            </a:lvl1pPr>
          </a:lstStyle>
          <a:p>
            <a:fld id="{EC58FDD2-768D-4302-B038-CB70A2367D3F}" type="datetimeFigureOut">
              <a:rPr lang="id-ID" smtClean="0"/>
              <a:t>07/05/2026</a:t>
            </a:fld>
            <a:endParaRPr lang="id-ID"/>
          </a:p>
        </p:txBody>
      </p:sp>
      <p:sp>
        <p:nvSpPr>
          <p:cNvPr id="5" name="Footer Placeholder 4">
            <a:extLst>
              <a:ext uri="{FF2B5EF4-FFF2-40B4-BE49-F238E27FC236}">
                <a16:creationId xmlns:a16="http://schemas.microsoft.com/office/drawing/2014/main" id="{78C5C067-199B-749F-72B4-B0F8C0D56ABF}"/>
              </a:ext>
            </a:extLst>
          </p:cNvPr>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id-ID"/>
          </a:p>
        </p:txBody>
      </p:sp>
      <p:sp>
        <p:nvSpPr>
          <p:cNvPr id="6" name="Slide Number Placeholder 5">
            <a:extLst>
              <a:ext uri="{FF2B5EF4-FFF2-40B4-BE49-F238E27FC236}">
                <a16:creationId xmlns:a16="http://schemas.microsoft.com/office/drawing/2014/main" id="{AD7FB4DE-24BD-664D-09E4-5C4CC6FF6A9B}"/>
              </a:ext>
            </a:extLst>
          </p:cNvPr>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82000"/>
                  </a:schemeClr>
                </a:solidFill>
              </a:defRPr>
            </a:lvl1pPr>
          </a:lstStyle>
          <a:p>
            <a:fld id="{B049FC00-1158-492C-AEDD-D1D106EEFE0E}" type="slidenum">
              <a:rPr lang="id-ID" smtClean="0"/>
              <a:t>‹#›</a:t>
            </a:fld>
            <a:endParaRPr lang="id-ID"/>
          </a:p>
        </p:txBody>
      </p:sp>
    </p:spTree>
    <p:extLst>
      <p:ext uri="{BB962C8B-B14F-4D97-AF65-F5344CB8AC3E}">
        <p14:creationId xmlns:p14="http://schemas.microsoft.com/office/powerpoint/2010/main" val="3568784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6261093-382F-3852-6CC1-775C6DB48860}"/>
              </a:ext>
            </a:extLst>
          </p:cNvPr>
          <p:cNvSpPr/>
          <p:nvPr/>
        </p:nvSpPr>
        <p:spPr>
          <a:xfrm rot="-1080000">
            <a:off x="-889000" y="3810000"/>
            <a:ext cx="3302000" cy="2286000"/>
          </a:xfrm>
          <a:prstGeom prst="roundRect">
            <a:avLst>
              <a:gd name="adj" fmla="val 7000"/>
            </a:avLst>
          </a:prstGeom>
          <a:solidFill>
            <a:srgbClr val="1E7C74">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E49A69B4-E2A1-081B-A576-1C713DE392CD}"/>
              </a:ext>
            </a:extLst>
          </p:cNvPr>
          <p:cNvSpPr/>
          <p:nvPr/>
        </p:nvSpPr>
        <p:spPr>
          <a:xfrm rot="960000">
            <a:off x="5334000" y="-889000"/>
            <a:ext cx="4445000" cy="2794000"/>
          </a:xfrm>
          <a:prstGeom prst="roundRect">
            <a:avLst>
              <a:gd name="adj" fmla="val 6000"/>
            </a:avLst>
          </a:prstGeom>
          <a:solidFill>
            <a:srgbClr val="B86A2D">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938CCD99-CB24-DE6A-780D-61DAB99F2600}"/>
              </a:ext>
            </a:extLst>
          </p:cNvPr>
          <p:cNvSpPr/>
          <p:nvPr/>
        </p:nvSpPr>
        <p:spPr>
          <a:xfrm>
            <a:off x="0" y="0"/>
            <a:ext cx="91440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4F06F409-2222-E2F2-7A94-DE7B0A4D02EB}"/>
              </a:ext>
            </a:extLst>
          </p:cNvPr>
          <p:cNvSpPr txBox="1"/>
          <p:nvPr/>
        </p:nvSpPr>
        <p:spPr>
          <a:xfrm>
            <a:off x="711200" y="584200"/>
            <a:ext cx="2794000" cy="216085"/>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Geoportal Capstone Presentation</a:t>
            </a:r>
          </a:p>
        </p:txBody>
      </p:sp>
      <p:sp>
        <p:nvSpPr>
          <p:cNvPr id="6" name="TextBox 5">
            <a:extLst>
              <a:ext uri="{FF2B5EF4-FFF2-40B4-BE49-F238E27FC236}">
                <a16:creationId xmlns:a16="http://schemas.microsoft.com/office/drawing/2014/main" id="{0E676FB1-F55A-8E1A-61A7-20CF88750DB3}"/>
              </a:ext>
            </a:extLst>
          </p:cNvPr>
          <p:cNvSpPr txBox="1"/>
          <p:nvPr/>
        </p:nvSpPr>
        <p:spPr>
          <a:xfrm>
            <a:off x="711200" y="1219200"/>
            <a:ext cx="6604000" cy="216085"/>
          </a:xfrm>
          <a:prstGeom prst="rect">
            <a:avLst/>
          </a:prstGeom>
          <a:noFill/>
        </p:spPr>
        <p:txBody>
          <a:bodyPr vert="horz" wrap="square" lIns="0" tIns="0" rIns="0" bIns="0" rtlCol="0">
            <a:noAutofit/>
          </a:bodyPr>
          <a:lstStyle/>
          <a:p>
            <a:r>
              <a:rPr lang="id-ID" sz="3000" b="1">
                <a:solidFill>
                  <a:srgbClr val="FFFCF8"/>
                </a:solidFill>
                <a:latin typeface="Georgia" panose="02040502050405020303" pitchFamily="18" charset="0"/>
              </a:rPr>
              <a:t>Skema Pengujian Geoportal</a:t>
            </a:r>
          </a:p>
        </p:txBody>
      </p:sp>
      <p:sp>
        <p:nvSpPr>
          <p:cNvPr id="7" name="TextBox 6">
            <a:extLst>
              <a:ext uri="{FF2B5EF4-FFF2-40B4-BE49-F238E27FC236}">
                <a16:creationId xmlns:a16="http://schemas.microsoft.com/office/drawing/2014/main" id="{C298D55E-3F07-71CD-26C7-48889F8D11F2}"/>
              </a:ext>
            </a:extLst>
          </p:cNvPr>
          <p:cNvSpPr txBox="1"/>
          <p:nvPr/>
        </p:nvSpPr>
        <p:spPr>
          <a:xfrm>
            <a:off x="736600" y="2463800"/>
            <a:ext cx="5842000" cy="432170"/>
          </a:xfrm>
          <a:prstGeom prst="rect">
            <a:avLst/>
          </a:prstGeom>
          <a:noFill/>
        </p:spPr>
        <p:txBody>
          <a:bodyPr vert="horz" wrap="square" lIns="0" tIns="0" rIns="0" bIns="0" rtlCol="0">
            <a:noAutofit/>
          </a:bodyPr>
          <a:lstStyle/>
          <a:p>
            <a:r>
              <a:rPr lang="id-ID" sz="1500">
                <a:solidFill>
                  <a:srgbClr val="E9DED0"/>
                </a:solidFill>
                <a:latin typeface="Aptos" panose="020B0004020202020204" pitchFamily="34" charset="0"/>
              </a:rPr>
              <a:t>Versi revisi dengan penjelasan metode yang lebih lengkap: definisi, alur pelaksanaan, pihak yang dibutuhkan, artefak, dan konteks penggunaan.</a:t>
            </a:r>
          </a:p>
        </p:txBody>
      </p:sp>
      <p:sp>
        <p:nvSpPr>
          <p:cNvPr id="8" name="Rectangle: Rounded Corners 7">
            <a:extLst>
              <a:ext uri="{FF2B5EF4-FFF2-40B4-BE49-F238E27FC236}">
                <a16:creationId xmlns:a16="http://schemas.microsoft.com/office/drawing/2014/main" id="{23034948-BAEF-AB2E-0180-C26F910EE475}"/>
              </a:ext>
            </a:extLst>
          </p:cNvPr>
          <p:cNvSpPr/>
          <p:nvPr/>
        </p:nvSpPr>
        <p:spPr>
          <a:xfrm>
            <a:off x="7747000" y="787400"/>
            <a:ext cx="3632200" cy="4165600"/>
          </a:xfrm>
          <a:prstGeom prst="roundRect">
            <a:avLst>
              <a:gd name="adj" fmla="val 6000"/>
            </a:avLst>
          </a:prstGeom>
          <a:solidFill>
            <a:srgbClr val="FFFD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4B9D29BF-FE7F-941A-8D25-28DC48BE27F0}"/>
              </a:ext>
            </a:extLst>
          </p:cNvPr>
          <p:cNvSpPr txBox="1"/>
          <p:nvPr/>
        </p:nvSpPr>
        <p:spPr>
          <a:xfrm>
            <a:off x="8102600" y="1168400"/>
            <a:ext cx="1778000" cy="216085"/>
          </a:xfrm>
          <a:prstGeom prst="rect">
            <a:avLst/>
          </a:prstGeom>
          <a:noFill/>
        </p:spPr>
        <p:txBody>
          <a:bodyPr vert="horz" wrap="square" lIns="0" tIns="0" rIns="0" bIns="0" rtlCol="0">
            <a:noAutofit/>
          </a:bodyPr>
          <a:lstStyle/>
          <a:p>
            <a:r>
              <a:rPr lang="id-ID" sz="1800" b="1">
                <a:solidFill>
                  <a:srgbClr val="13293D"/>
                </a:solidFill>
                <a:latin typeface="Aptos Display" panose="020B0004020202020204" pitchFamily="34" charset="0"/>
              </a:rPr>
              <a:t>Isi utama</a:t>
            </a:r>
          </a:p>
        </p:txBody>
      </p:sp>
      <p:sp>
        <p:nvSpPr>
          <p:cNvPr id="10" name="TextBox 9">
            <a:extLst>
              <a:ext uri="{FF2B5EF4-FFF2-40B4-BE49-F238E27FC236}">
                <a16:creationId xmlns:a16="http://schemas.microsoft.com/office/drawing/2014/main" id="{73FCA237-8212-114E-ABBF-76BF7932DE16}"/>
              </a:ext>
            </a:extLst>
          </p:cNvPr>
          <p:cNvSpPr txBox="1"/>
          <p:nvPr/>
        </p:nvSpPr>
        <p:spPr>
          <a:xfrm>
            <a:off x="8102600" y="1651000"/>
            <a:ext cx="2794000" cy="1728678"/>
          </a:xfrm>
          <a:prstGeom prst="rect">
            <a:avLst/>
          </a:prstGeom>
          <a:noFill/>
        </p:spPr>
        <p:txBody>
          <a:bodyPr vert="horz" wrap="square" lIns="0" tIns="0" rIns="0" bIns="0" rtlCol="0">
            <a:noAutofit/>
          </a:bodyPr>
          <a:lstStyle/>
          <a:p>
            <a:r>
              <a:rPr lang="id-ID" sz="1300">
                <a:solidFill>
                  <a:srgbClr val="243745"/>
                </a:solidFill>
                <a:latin typeface="Aptos" panose="020B0004020202020204" pitchFamily="34" charset="0"/>
              </a:rPr>
              <a:t>01  Konteks sistem</a:t>
            </a:r>
          </a:p>
          <a:p>
            <a:r>
              <a:rPr lang="id-ID" sz="1300">
                <a:solidFill>
                  <a:srgbClr val="243745"/>
                </a:solidFill>
                <a:latin typeface="Aptos" panose="020B0004020202020204" pitchFamily="34" charset="0"/>
              </a:rPr>
              <a:t>02  Peta metode pengujian</a:t>
            </a:r>
          </a:p>
          <a:p>
            <a:r>
              <a:rPr lang="id-ID" sz="1300">
                <a:solidFill>
                  <a:srgbClr val="243745"/>
                </a:solidFill>
                <a:latin typeface="Aptos" panose="020B0004020202020204" pitchFamily="34" charset="0"/>
              </a:rPr>
              <a:t>03  Detail tiap metode</a:t>
            </a:r>
          </a:p>
          <a:p>
            <a:r>
              <a:rPr lang="id-ID" sz="1300">
                <a:solidFill>
                  <a:srgbClr val="243745"/>
                </a:solidFill>
                <a:latin typeface="Aptos" panose="020B0004020202020204" pitchFamily="34" charset="0"/>
              </a:rPr>
              <a:t>04  Strategi rekomendasi</a:t>
            </a:r>
          </a:p>
          <a:p>
            <a:r>
              <a:rPr lang="id-ID" sz="1300">
                <a:solidFill>
                  <a:srgbClr val="243745"/>
                </a:solidFill>
                <a:latin typeface="Aptos" panose="020B0004020202020204" pitchFamily="34" charset="0"/>
              </a:rPr>
              <a:t>05  Alur eksekusi</a:t>
            </a:r>
          </a:p>
          <a:p>
            <a:r>
              <a:rPr lang="id-ID" sz="1300">
                <a:solidFill>
                  <a:srgbClr val="243745"/>
                </a:solidFill>
                <a:latin typeface="Aptos" panose="020B0004020202020204" pitchFamily="34" charset="0"/>
              </a:rPr>
              <a:t>06  Pihak yang terlibat</a:t>
            </a:r>
          </a:p>
          <a:p>
            <a:r>
              <a:rPr lang="id-ID" sz="1300">
                <a:solidFill>
                  <a:srgbClr val="243745"/>
                </a:solidFill>
                <a:latin typeface="Aptos" panose="020B0004020202020204" pitchFamily="34" charset="0"/>
              </a:rPr>
              <a:t>07  Data, dokumen, evidence</a:t>
            </a:r>
          </a:p>
          <a:p>
            <a:r>
              <a:rPr lang="id-ID" sz="1300">
                <a:solidFill>
                  <a:srgbClr val="243745"/>
                </a:solidFill>
                <a:latin typeface="Aptos" panose="020B0004020202020204" pitchFamily="34" charset="0"/>
              </a:rPr>
              <a:t>08  Poin diskusi pembimbing</a:t>
            </a:r>
          </a:p>
        </p:txBody>
      </p:sp>
      <p:sp>
        <p:nvSpPr>
          <p:cNvPr id="11" name="TextBox 10">
            <a:extLst>
              <a:ext uri="{FF2B5EF4-FFF2-40B4-BE49-F238E27FC236}">
                <a16:creationId xmlns:a16="http://schemas.microsoft.com/office/drawing/2014/main" id="{3296A2B3-E1A0-B7E8-7268-1562B6774623}"/>
              </a:ext>
            </a:extLst>
          </p:cNvPr>
          <p:cNvSpPr txBox="1"/>
          <p:nvPr/>
        </p:nvSpPr>
        <p:spPr>
          <a:xfrm>
            <a:off x="8102600" y="4140200"/>
            <a:ext cx="2540000" cy="648254"/>
          </a:xfrm>
          <a:prstGeom prst="rect">
            <a:avLst/>
          </a:prstGeom>
          <a:noFill/>
        </p:spPr>
        <p:txBody>
          <a:bodyPr vert="horz" wrap="square" lIns="0" tIns="0" rIns="0" bIns="0" rtlCol="0">
            <a:noAutofit/>
          </a:bodyPr>
          <a:lstStyle/>
          <a:p>
            <a:r>
              <a:rPr lang="id-ID" sz="1150">
                <a:solidFill>
                  <a:srgbClr val="65727D"/>
                </a:solidFill>
                <a:latin typeface="Aptos" panose="020B0004020202020204" pitchFamily="34" charset="0"/>
              </a:rPr>
              <a:t>Nama Mahasiswa</a:t>
            </a:r>
          </a:p>
          <a:p>
            <a:r>
              <a:rPr lang="id-ID" sz="1150">
                <a:solidFill>
                  <a:srgbClr val="65727D"/>
                </a:solidFill>
                <a:latin typeface="Aptos" panose="020B0004020202020204" pitchFamily="34" charset="0"/>
              </a:rPr>
              <a:t>NIM / Program Studi</a:t>
            </a:r>
          </a:p>
          <a:p>
            <a:r>
              <a:rPr lang="id-ID" sz="1150">
                <a:solidFill>
                  <a:srgbClr val="65727D"/>
                </a:solidFill>
                <a:latin typeface="Aptos" panose="020B0004020202020204" pitchFamily="34" charset="0"/>
              </a:rPr>
              <a:t>Sidang atau bimbingan capstone</a:t>
            </a:r>
          </a:p>
        </p:txBody>
      </p:sp>
      <p:cxnSp>
        <p:nvCxnSpPr>
          <p:cNvPr id="12" name="Straight Connector 11">
            <a:extLst>
              <a:ext uri="{FF2B5EF4-FFF2-40B4-BE49-F238E27FC236}">
                <a16:creationId xmlns:a16="http://schemas.microsoft.com/office/drawing/2014/main" id="{D1B07C2C-6CB8-B54A-DD4D-EE9918E6E1B5}"/>
              </a:ext>
            </a:extLst>
          </p:cNvPr>
          <p:cNvCxnSpPr/>
          <p:nvPr/>
        </p:nvCxnSpPr>
        <p:spPr>
          <a:xfrm>
            <a:off x="558800" y="5359400"/>
            <a:ext cx="8026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35F8C3F-F4C8-2B38-3B22-4D471485230F}"/>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14" name="TextBox 13">
            <a:extLst>
              <a:ext uri="{FF2B5EF4-FFF2-40B4-BE49-F238E27FC236}">
                <a16:creationId xmlns:a16="http://schemas.microsoft.com/office/drawing/2014/main" id="{0F4E026C-B472-3FCD-C3F8-50504E224449}"/>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01</a:t>
            </a:r>
          </a:p>
        </p:txBody>
      </p:sp>
    </p:spTree>
    <p:extLst>
      <p:ext uri="{BB962C8B-B14F-4D97-AF65-F5344CB8AC3E}">
        <p14:creationId xmlns:p14="http://schemas.microsoft.com/office/powerpoint/2010/main" val="277532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87550D8-EC97-0026-A36F-CCCAA7EC910D}"/>
              </a:ext>
            </a:extLst>
          </p:cNvPr>
          <p:cNvSpPr/>
          <p:nvPr/>
        </p:nvSpPr>
        <p:spPr>
          <a:xfrm>
            <a:off x="0" y="0"/>
            <a:ext cx="228600" cy="5715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43CA00CE-C83E-0941-E054-605FE63D35FE}"/>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D78240F9-E47F-861E-1FA8-3120E67B105D}"/>
              </a:ext>
            </a:extLst>
          </p:cNvPr>
          <p:cNvSpPr/>
          <p:nvPr/>
        </p:nvSpPr>
        <p:spPr>
          <a:xfrm>
            <a:off x="5969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09DC9EA4-E72D-9D7B-9095-4D4713FC68AC}"/>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DC391155-ED7F-3C99-2BD0-C48E7A748FA3}"/>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F896975A-00CE-BF27-3C7B-3B3524D3C7CB}"/>
              </a:ext>
            </a:extLst>
          </p:cNvPr>
          <p:cNvSpPr txBox="1"/>
          <p:nvPr/>
        </p:nvSpPr>
        <p:spPr>
          <a:xfrm>
            <a:off x="736600" y="431800"/>
            <a:ext cx="1422400" cy="216085"/>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Why It Matters</a:t>
            </a:r>
          </a:p>
        </p:txBody>
      </p:sp>
      <p:sp>
        <p:nvSpPr>
          <p:cNvPr id="8" name="TextBox 7">
            <a:extLst>
              <a:ext uri="{FF2B5EF4-FFF2-40B4-BE49-F238E27FC236}">
                <a16:creationId xmlns:a16="http://schemas.microsoft.com/office/drawing/2014/main" id="{142C1D37-4199-7B44-8B09-A4CDF4235350}"/>
              </a:ext>
            </a:extLst>
          </p:cNvPr>
          <p:cNvSpPr txBox="1"/>
          <p:nvPr/>
        </p:nvSpPr>
        <p:spPr>
          <a:xfrm>
            <a:off x="609600" y="863600"/>
            <a:ext cx="9779000" cy="216085"/>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Geoportal ini tidak cukup diuji dengan satu metode saja</a:t>
            </a:r>
          </a:p>
        </p:txBody>
      </p:sp>
      <p:sp>
        <p:nvSpPr>
          <p:cNvPr id="9" name="TextBox 8">
            <a:extLst>
              <a:ext uri="{FF2B5EF4-FFF2-40B4-BE49-F238E27FC236}">
                <a16:creationId xmlns:a16="http://schemas.microsoft.com/office/drawing/2014/main" id="{88DB8E3B-1309-AD1F-D125-C5CF718BCD91}"/>
              </a:ext>
            </a:extLst>
          </p:cNvPr>
          <p:cNvSpPr txBox="1"/>
          <p:nvPr/>
        </p:nvSpPr>
        <p:spPr>
          <a:xfrm>
            <a:off x="609600" y="1371600"/>
            <a:ext cx="10414000" cy="432170"/>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Sistem memadukan UI, route, service, PostGIS, metadata XML, raster, dan download sehingga pengujian harus mencakup lapisan teknis dan lapisan pengguna.</a:t>
            </a:r>
          </a:p>
        </p:txBody>
      </p:sp>
      <p:sp>
        <p:nvSpPr>
          <p:cNvPr id="10" name="Rectangle: Rounded Corners 9">
            <a:extLst>
              <a:ext uri="{FF2B5EF4-FFF2-40B4-BE49-F238E27FC236}">
                <a16:creationId xmlns:a16="http://schemas.microsoft.com/office/drawing/2014/main" id="{8CAAE9E3-735F-4261-A0BF-9E0C8E02931D}"/>
              </a:ext>
            </a:extLst>
          </p:cNvPr>
          <p:cNvSpPr/>
          <p:nvPr/>
        </p:nvSpPr>
        <p:spPr>
          <a:xfrm>
            <a:off x="609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C6B73D6D-FAD3-5F4C-A927-A2BC7CB2A88D}"/>
              </a:ext>
            </a:extLst>
          </p:cNvPr>
          <p:cNvSpPr/>
          <p:nvPr/>
        </p:nvSpPr>
        <p:spPr>
          <a:xfrm>
            <a:off x="812800" y="2235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DDAA1BC0-42B2-63B0-5CFD-BF8388B9CB46}"/>
              </a:ext>
            </a:extLst>
          </p:cNvPr>
          <p:cNvSpPr txBox="1"/>
          <p:nvPr/>
        </p:nvSpPr>
        <p:spPr>
          <a:xfrm>
            <a:off x="812800" y="23622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Auth &amp; role</a:t>
            </a:r>
          </a:p>
        </p:txBody>
      </p:sp>
      <p:sp>
        <p:nvSpPr>
          <p:cNvPr id="13" name="TextBox 12">
            <a:extLst>
              <a:ext uri="{FF2B5EF4-FFF2-40B4-BE49-F238E27FC236}">
                <a16:creationId xmlns:a16="http://schemas.microsoft.com/office/drawing/2014/main" id="{9BA8F9CC-AB3C-CD27-173F-B161D476BF49}"/>
              </a:ext>
            </a:extLst>
          </p:cNvPr>
          <p:cNvSpPr txBox="1"/>
          <p:nvPr/>
        </p:nvSpPr>
        <p:spPr>
          <a:xfrm>
            <a:off x="812800" y="2743200"/>
            <a:ext cx="21844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Akses guest, user, dan admin harus konsisten di route dan fitur.</a:t>
            </a:r>
          </a:p>
        </p:txBody>
      </p:sp>
      <p:sp>
        <p:nvSpPr>
          <p:cNvPr id="14" name="Rectangle: Rounded Corners 13">
            <a:extLst>
              <a:ext uri="{FF2B5EF4-FFF2-40B4-BE49-F238E27FC236}">
                <a16:creationId xmlns:a16="http://schemas.microsoft.com/office/drawing/2014/main" id="{DDFD3CFB-BAF1-1448-F95C-11FA8910F79A}"/>
              </a:ext>
            </a:extLst>
          </p:cNvPr>
          <p:cNvSpPr/>
          <p:nvPr/>
        </p:nvSpPr>
        <p:spPr>
          <a:xfrm>
            <a:off x="3403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833DF7F6-D425-B17E-B7A7-B27AB811C1C7}"/>
              </a:ext>
            </a:extLst>
          </p:cNvPr>
          <p:cNvSpPr/>
          <p:nvPr/>
        </p:nvSpPr>
        <p:spPr>
          <a:xfrm>
            <a:off x="3606800" y="2235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EDAB9C81-0490-9485-6487-15E5C55B7A2E}"/>
              </a:ext>
            </a:extLst>
          </p:cNvPr>
          <p:cNvSpPr txBox="1"/>
          <p:nvPr/>
        </p:nvSpPr>
        <p:spPr>
          <a:xfrm>
            <a:off x="3606800" y="23622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Catalog</a:t>
            </a:r>
          </a:p>
        </p:txBody>
      </p:sp>
      <p:sp>
        <p:nvSpPr>
          <p:cNvPr id="17" name="TextBox 16">
            <a:extLst>
              <a:ext uri="{FF2B5EF4-FFF2-40B4-BE49-F238E27FC236}">
                <a16:creationId xmlns:a16="http://schemas.microsoft.com/office/drawing/2014/main" id="{094A5D2F-276E-AB59-464A-4A076C9470EA}"/>
              </a:ext>
            </a:extLst>
          </p:cNvPr>
          <p:cNvSpPr txBox="1"/>
          <p:nvPr/>
        </p:nvSpPr>
        <p:spPr>
          <a:xfrm>
            <a:off x="3606800" y="2743200"/>
            <a:ext cx="21844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Dataset harus bisa dicari, dilihat, dan diunduh sesuai izin.</a:t>
            </a:r>
          </a:p>
        </p:txBody>
      </p:sp>
      <p:sp>
        <p:nvSpPr>
          <p:cNvPr id="18" name="Rectangle: Rounded Corners 17">
            <a:extLst>
              <a:ext uri="{FF2B5EF4-FFF2-40B4-BE49-F238E27FC236}">
                <a16:creationId xmlns:a16="http://schemas.microsoft.com/office/drawing/2014/main" id="{E194B6D7-33D8-22A9-FD2A-1CD27F4F3F64}"/>
              </a:ext>
            </a:extLst>
          </p:cNvPr>
          <p:cNvSpPr/>
          <p:nvPr/>
        </p:nvSpPr>
        <p:spPr>
          <a:xfrm>
            <a:off x="6197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2FF2E3CF-6AC7-9CC0-775B-5E4706B84826}"/>
              </a:ext>
            </a:extLst>
          </p:cNvPr>
          <p:cNvSpPr/>
          <p:nvPr/>
        </p:nvSpPr>
        <p:spPr>
          <a:xfrm>
            <a:off x="6400800" y="2235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D7B5CDD2-55E6-B27C-A6A0-1978BF3CE3AA}"/>
              </a:ext>
            </a:extLst>
          </p:cNvPr>
          <p:cNvSpPr txBox="1"/>
          <p:nvPr/>
        </p:nvSpPr>
        <p:spPr>
          <a:xfrm>
            <a:off x="6400800" y="23622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Admin import</a:t>
            </a:r>
          </a:p>
        </p:txBody>
      </p:sp>
      <p:sp>
        <p:nvSpPr>
          <p:cNvPr id="21" name="TextBox 20">
            <a:extLst>
              <a:ext uri="{FF2B5EF4-FFF2-40B4-BE49-F238E27FC236}">
                <a16:creationId xmlns:a16="http://schemas.microsoft.com/office/drawing/2014/main" id="{ECDC09BF-1B82-68F0-4835-43063FD91F18}"/>
              </a:ext>
            </a:extLst>
          </p:cNvPr>
          <p:cNvSpPr txBox="1"/>
          <p:nvPr/>
        </p:nvSpPr>
        <p:spPr>
          <a:xfrm>
            <a:off x="6400800" y="2743200"/>
            <a:ext cx="21844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CSV, TIFF, dan XML harus masuk ke alur yang sama dan repeatable.</a:t>
            </a:r>
          </a:p>
        </p:txBody>
      </p:sp>
      <p:sp>
        <p:nvSpPr>
          <p:cNvPr id="22" name="Rectangle: Rounded Corners 21">
            <a:extLst>
              <a:ext uri="{FF2B5EF4-FFF2-40B4-BE49-F238E27FC236}">
                <a16:creationId xmlns:a16="http://schemas.microsoft.com/office/drawing/2014/main" id="{41D3B285-EE61-FA4F-8C2A-BD40C98682C2}"/>
              </a:ext>
            </a:extLst>
          </p:cNvPr>
          <p:cNvSpPr/>
          <p:nvPr/>
        </p:nvSpPr>
        <p:spPr>
          <a:xfrm>
            <a:off x="8991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BF8D346A-C8BA-0E1F-0710-8F26E9B85E72}"/>
              </a:ext>
            </a:extLst>
          </p:cNvPr>
          <p:cNvSpPr/>
          <p:nvPr/>
        </p:nvSpPr>
        <p:spPr>
          <a:xfrm>
            <a:off x="9194800" y="2235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8CE0F859-3FE2-25A9-8CB5-CADB0A9616E7}"/>
              </a:ext>
            </a:extLst>
          </p:cNvPr>
          <p:cNvSpPr txBox="1"/>
          <p:nvPr/>
        </p:nvSpPr>
        <p:spPr>
          <a:xfrm>
            <a:off x="9194800" y="23622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WebMap &amp; PostGIS</a:t>
            </a:r>
          </a:p>
        </p:txBody>
      </p:sp>
      <p:sp>
        <p:nvSpPr>
          <p:cNvPr id="25" name="TextBox 24">
            <a:extLst>
              <a:ext uri="{FF2B5EF4-FFF2-40B4-BE49-F238E27FC236}">
                <a16:creationId xmlns:a16="http://schemas.microsoft.com/office/drawing/2014/main" id="{77989154-725D-9D3E-52A3-77208E4983FB}"/>
              </a:ext>
            </a:extLst>
          </p:cNvPr>
          <p:cNvSpPr txBox="1"/>
          <p:nvPr/>
        </p:nvSpPr>
        <p:spPr>
          <a:xfrm>
            <a:off x="9194800" y="2743200"/>
            <a:ext cx="21844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Preview, filter, grid, dan download harus tetap sinkron dengan data aktif.</a:t>
            </a:r>
          </a:p>
        </p:txBody>
      </p:sp>
      <p:sp>
        <p:nvSpPr>
          <p:cNvPr id="26" name="Rectangle: Rounded Corners 25">
            <a:extLst>
              <a:ext uri="{FF2B5EF4-FFF2-40B4-BE49-F238E27FC236}">
                <a16:creationId xmlns:a16="http://schemas.microsoft.com/office/drawing/2014/main" id="{F459BE56-4124-5601-1AA6-8CBA15AB75CC}"/>
              </a:ext>
            </a:extLst>
          </p:cNvPr>
          <p:cNvSpPr/>
          <p:nvPr/>
        </p:nvSpPr>
        <p:spPr>
          <a:xfrm>
            <a:off x="609600" y="3937000"/>
            <a:ext cx="10972800" cy="1854200"/>
          </a:xfrm>
          <a:prstGeom prst="roundRect">
            <a:avLst>
              <a:gd name="adj" fmla="val 6000"/>
            </a:avLst>
          </a:prstGeom>
          <a:solidFill>
            <a:srgbClr val="FFFDF9"/>
          </a:solidFill>
          <a:ln w="11430" cap="flat" cmpd="sng" algn="ctr">
            <a:solidFill>
              <a:srgbClr val="D8CFC3">
                <a:alpha val="78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TextBox 26">
            <a:extLst>
              <a:ext uri="{FF2B5EF4-FFF2-40B4-BE49-F238E27FC236}">
                <a16:creationId xmlns:a16="http://schemas.microsoft.com/office/drawing/2014/main" id="{027CDDCB-3166-4B46-17E3-FD14AEF4D971}"/>
              </a:ext>
            </a:extLst>
          </p:cNvPr>
          <p:cNvSpPr txBox="1"/>
          <p:nvPr/>
        </p:nvSpPr>
        <p:spPr>
          <a:xfrm>
            <a:off x="889000" y="4216400"/>
            <a:ext cx="3556000" cy="216085"/>
          </a:xfrm>
          <a:prstGeom prst="rect">
            <a:avLst/>
          </a:prstGeom>
          <a:noFill/>
        </p:spPr>
        <p:txBody>
          <a:bodyPr vert="horz" wrap="square" lIns="0" tIns="0" rIns="0" bIns="0" rtlCol="0">
            <a:noAutofit/>
          </a:bodyPr>
          <a:lstStyle/>
          <a:p>
            <a:r>
              <a:rPr lang="id-ID" sz="1600" b="1">
                <a:solidFill>
                  <a:srgbClr val="13293D"/>
                </a:solidFill>
                <a:latin typeface="Aptos Display" panose="020B0004020202020204" pitchFamily="34" charset="0"/>
              </a:rPr>
              <a:t>Empat risiko utama yang perlu dibuktikan</a:t>
            </a:r>
          </a:p>
        </p:txBody>
      </p:sp>
      <p:sp>
        <p:nvSpPr>
          <p:cNvPr id="28" name="TextBox 27">
            <a:extLst>
              <a:ext uri="{FF2B5EF4-FFF2-40B4-BE49-F238E27FC236}">
                <a16:creationId xmlns:a16="http://schemas.microsoft.com/office/drawing/2014/main" id="{05A0F48B-7B51-38EB-4408-46209F130541}"/>
              </a:ext>
            </a:extLst>
          </p:cNvPr>
          <p:cNvSpPr txBox="1"/>
          <p:nvPr/>
        </p:nvSpPr>
        <p:spPr>
          <a:xfrm>
            <a:off x="889000" y="4622800"/>
            <a:ext cx="10312400" cy="864339"/>
          </a:xfrm>
          <a:prstGeom prst="rect">
            <a:avLst/>
          </a:prstGeom>
          <a:noFill/>
        </p:spPr>
        <p:txBody>
          <a:bodyPr vert="horz" wrap="square" lIns="0" tIns="0" rIns="0" bIns="0" rtlCol="0">
            <a:noAutofit/>
          </a:bodyPr>
          <a:lstStyle/>
          <a:p>
            <a:r>
              <a:rPr lang="id-ID" sz="1200">
                <a:solidFill>
                  <a:srgbClr val="243745"/>
                </a:solidFill>
                <a:latin typeface="Aptos" panose="020B0004020202020204" pitchFamily="34" charset="0"/>
              </a:rPr>
              <a:t>1. Import berhasil tetapi hasil tidak tampil benar di katalog atau WebMap.</a:t>
            </a:r>
          </a:p>
          <a:p>
            <a:r>
              <a:rPr lang="id-ID" sz="1200">
                <a:solidFill>
                  <a:srgbClr val="243745"/>
                </a:solidFill>
                <a:latin typeface="Aptos" panose="020B0004020202020204" pitchFamily="34" charset="0"/>
              </a:rPr>
              <a:t>2. Route dan role terlihat benar, tetapi download atau halaman admin masih bisa diakses tidak semestinya.</a:t>
            </a:r>
          </a:p>
          <a:p>
            <a:r>
              <a:rPr lang="id-ID" sz="1200">
                <a:solidFill>
                  <a:srgbClr val="243745"/>
                </a:solidFill>
                <a:latin typeface="Aptos" panose="020B0004020202020204" pitchFamily="34" charset="0"/>
              </a:rPr>
              <a:t>3. Filter spasial tampak berjalan, tetapi data atau metadata yang keluar tidak sesuai area aktif.</a:t>
            </a:r>
          </a:p>
          <a:p>
            <a:r>
              <a:rPr lang="id-ID" sz="1200">
                <a:solidFill>
                  <a:srgbClr val="243745"/>
                </a:solidFill>
                <a:latin typeface="Aptos" panose="020B0004020202020204" pitchFamily="34" charset="0"/>
              </a:rPr>
              <a:t>4. Presentasi hanya menunjukkan demo, bukan evidence pengujian yang terdokumentasi.</a:t>
            </a:r>
          </a:p>
        </p:txBody>
      </p:sp>
      <p:cxnSp>
        <p:nvCxnSpPr>
          <p:cNvPr id="29" name="Straight Connector 28">
            <a:extLst>
              <a:ext uri="{FF2B5EF4-FFF2-40B4-BE49-F238E27FC236}">
                <a16:creationId xmlns:a16="http://schemas.microsoft.com/office/drawing/2014/main" id="{18342D43-5528-B6B6-E7C3-59118CC2071A}"/>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13BAA645-B88E-F1B4-820B-92A591A3EC52}"/>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1" name="TextBox 30">
            <a:extLst>
              <a:ext uri="{FF2B5EF4-FFF2-40B4-BE49-F238E27FC236}">
                <a16:creationId xmlns:a16="http://schemas.microsoft.com/office/drawing/2014/main" id="{CF47B57A-AA97-2450-FCE8-5D00C97662E5}"/>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02</a:t>
            </a:r>
          </a:p>
        </p:txBody>
      </p:sp>
    </p:spTree>
    <p:extLst>
      <p:ext uri="{BB962C8B-B14F-4D97-AF65-F5344CB8AC3E}">
        <p14:creationId xmlns:p14="http://schemas.microsoft.com/office/powerpoint/2010/main" val="905161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66ECD8-EC7C-480E-8C08-A6C954ED13CF}"/>
              </a:ext>
            </a:extLst>
          </p:cNvPr>
          <p:cNvSpPr/>
          <p:nvPr/>
        </p:nvSpPr>
        <p:spPr>
          <a:xfrm>
            <a:off x="0" y="0"/>
            <a:ext cx="228600" cy="5715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5EF7E6B3-34F6-B1C8-9398-A9C9B44714B0}"/>
              </a:ext>
            </a:extLst>
          </p:cNvPr>
          <p:cNvSpPr/>
          <p:nvPr/>
        </p:nvSpPr>
        <p:spPr>
          <a:xfrm>
            <a:off x="-1397000" y="3429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A3D64D5D-D3A6-556D-7BB8-7E69AA4ECA6E}"/>
              </a:ext>
            </a:extLst>
          </p:cNvPr>
          <p:cNvSpPr/>
          <p:nvPr/>
        </p:nvSpPr>
        <p:spPr>
          <a:xfrm>
            <a:off x="5969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43E2A1A7-F308-E08F-97CB-A22975A018B9}"/>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E899C370-C80F-ACD1-54D9-D34F17121344}"/>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90D6CBFF-B9CC-81FA-DCC6-BD2C70969F36}"/>
              </a:ext>
            </a:extLst>
          </p:cNvPr>
          <p:cNvSpPr txBox="1"/>
          <p:nvPr/>
        </p:nvSpPr>
        <p:spPr>
          <a:xfrm>
            <a:off x="736600" y="431800"/>
            <a:ext cx="1422400" cy="216085"/>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Method Map</a:t>
            </a:r>
          </a:p>
        </p:txBody>
      </p:sp>
      <p:sp>
        <p:nvSpPr>
          <p:cNvPr id="8" name="TextBox 7">
            <a:extLst>
              <a:ext uri="{FF2B5EF4-FFF2-40B4-BE49-F238E27FC236}">
                <a16:creationId xmlns:a16="http://schemas.microsoft.com/office/drawing/2014/main" id="{E20FB7D1-D915-5F7E-AA21-8305BC2CF952}"/>
              </a:ext>
            </a:extLst>
          </p:cNvPr>
          <p:cNvSpPr txBox="1"/>
          <p:nvPr/>
        </p:nvSpPr>
        <p:spPr>
          <a:xfrm>
            <a:off x="609600" y="863600"/>
            <a:ext cx="9779000" cy="216085"/>
          </a:xfrm>
          <a:prstGeom prst="rect">
            <a:avLst/>
          </a:prstGeom>
          <a:noFill/>
        </p:spPr>
        <p:txBody>
          <a:bodyPr vert="horz" wrap="square" lIns="0" tIns="0" rIns="0" bIns="0" rtlCol="0">
            <a:noAutofit/>
          </a:bodyPr>
          <a:lstStyle/>
          <a:p>
            <a:r>
              <a:rPr lang="nn-NO" sz="2600" b="1">
                <a:solidFill>
                  <a:srgbClr val="13293D"/>
                </a:solidFill>
                <a:latin typeface="Georgia" panose="02040502050405020303" pitchFamily="18" charset="0"/>
              </a:rPr>
              <a:t>Peta metode yang bisa dibawa ke pembimbing</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EFF30061-FF58-F7DB-84DD-54B66F974273}"/>
              </a:ext>
            </a:extLst>
          </p:cNvPr>
          <p:cNvSpPr txBox="1"/>
          <p:nvPr/>
        </p:nvSpPr>
        <p:spPr>
          <a:xfrm>
            <a:off x="609600" y="1371600"/>
            <a:ext cx="10414000" cy="216085"/>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Slide ini membantu menjelaskan bahwa tiap metode punya fungsi yang berbeda, bukan sekadar istilah pengujian yang mirip.</a:t>
            </a:r>
          </a:p>
        </p:txBody>
      </p:sp>
      <p:sp>
        <p:nvSpPr>
          <p:cNvPr id="10" name="Rectangle: Rounded Corners 9">
            <a:extLst>
              <a:ext uri="{FF2B5EF4-FFF2-40B4-BE49-F238E27FC236}">
                <a16:creationId xmlns:a16="http://schemas.microsoft.com/office/drawing/2014/main" id="{45860AFB-F332-333C-4E4A-8B9D1BB928A5}"/>
              </a:ext>
            </a:extLst>
          </p:cNvPr>
          <p:cNvSpPr/>
          <p:nvPr/>
        </p:nvSpPr>
        <p:spPr>
          <a:xfrm>
            <a:off x="6096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32F03B69-7089-0F1A-C6E4-D2F796233BAB}"/>
              </a:ext>
            </a:extLst>
          </p:cNvPr>
          <p:cNvSpPr/>
          <p:nvPr/>
        </p:nvSpPr>
        <p:spPr>
          <a:xfrm>
            <a:off x="8128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8F260115-ABB2-F330-0B19-F79FFE82C0C5}"/>
              </a:ext>
            </a:extLst>
          </p:cNvPr>
          <p:cNvSpPr txBox="1"/>
          <p:nvPr/>
        </p:nvSpPr>
        <p:spPr>
          <a:xfrm>
            <a:off x="812800" y="22860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Black-box functional</a:t>
            </a:r>
          </a:p>
        </p:txBody>
      </p:sp>
      <p:sp>
        <p:nvSpPr>
          <p:cNvPr id="13" name="TextBox 12">
            <a:extLst>
              <a:ext uri="{FF2B5EF4-FFF2-40B4-BE49-F238E27FC236}">
                <a16:creationId xmlns:a16="http://schemas.microsoft.com/office/drawing/2014/main" id="{4AF02BCC-07CE-5D79-F354-9BA4389BBE38}"/>
              </a:ext>
            </a:extLst>
          </p:cNvPr>
          <p:cNvSpPr txBox="1"/>
          <p:nvPr/>
        </p:nvSpPr>
        <p:spPr>
          <a:xfrm>
            <a:off x="812800" y="2667000"/>
            <a:ext cx="3048000" cy="216085"/>
          </a:xfrm>
          <a:prstGeom prst="rect">
            <a:avLst/>
          </a:prstGeom>
          <a:noFill/>
        </p:spPr>
        <p:txBody>
          <a:bodyPr vert="horz" wrap="square" lIns="0" tIns="0" rIns="0" bIns="0" rtlCol="0">
            <a:noAutofit/>
          </a:bodyPr>
          <a:lstStyle/>
          <a:p>
            <a:r>
              <a:rPr lang="it-IT" sz="1130">
                <a:solidFill>
                  <a:srgbClr val="243745"/>
                </a:solidFill>
                <a:latin typeface="Aptos" panose="020B0004020202020204" pitchFamily="34" charset="0"/>
              </a:rPr>
              <a:t>Validasi fitur utama dari sisi pengguna.</a:t>
            </a:r>
            <a:endParaRPr lang="id-ID" sz="1130">
              <a:solidFill>
                <a:srgbClr val="243745"/>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EA1F5EDB-BB5D-F8DA-6548-296D7450585B}"/>
              </a:ext>
            </a:extLst>
          </p:cNvPr>
          <p:cNvSpPr/>
          <p:nvPr/>
        </p:nvSpPr>
        <p:spPr>
          <a:xfrm>
            <a:off x="43688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1915B09B-18EB-0B58-EA86-CAF57C847AEC}"/>
              </a:ext>
            </a:extLst>
          </p:cNvPr>
          <p:cNvSpPr/>
          <p:nvPr/>
        </p:nvSpPr>
        <p:spPr>
          <a:xfrm>
            <a:off x="4572000" y="21590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FAB3854D-EAF1-E3E2-317D-53C1614920ED}"/>
              </a:ext>
            </a:extLst>
          </p:cNvPr>
          <p:cNvSpPr txBox="1"/>
          <p:nvPr/>
        </p:nvSpPr>
        <p:spPr>
          <a:xfrm>
            <a:off x="4572000" y="22860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Integration testing</a:t>
            </a:r>
          </a:p>
        </p:txBody>
      </p:sp>
      <p:sp>
        <p:nvSpPr>
          <p:cNvPr id="17" name="TextBox 16">
            <a:extLst>
              <a:ext uri="{FF2B5EF4-FFF2-40B4-BE49-F238E27FC236}">
                <a16:creationId xmlns:a16="http://schemas.microsoft.com/office/drawing/2014/main" id="{E3C4E569-C948-04A8-8BBD-D79518EE2EA6}"/>
              </a:ext>
            </a:extLst>
          </p:cNvPr>
          <p:cNvSpPr txBox="1"/>
          <p:nvPr/>
        </p:nvSpPr>
        <p:spPr>
          <a:xfrm>
            <a:off x="4572000" y="2667000"/>
            <a:ext cx="30480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Membuktikan data mengalir benar antar komponen.</a:t>
            </a:r>
          </a:p>
        </p:txBody>
      </p:sp>
      <p:sp>
        <p:nvSpPr>
          <p:cNvPr id="18" name="Rectangle: Rounded Corners 17">
            <a:extLst>
              <a:ext uri="{FF2B5EF4-FFF2-40B4-BE49-F238E27FC236}">
                <a16:creationId xmlns:a16="http://schemas.microsoft.com/office/drawing/2014/main" id="{96587DAA-4473-995C-5357-E42C26CE4EB1}"/>
              </a:ext>
            </a:extLst>
          </p:cNvPr>
          <p:cNvSpPr/>
          <p:nvPr/>
        </p:nvSpPr>
        <p:spPr>
          <a:xfrm>
            <a:off x="81280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1E8975C5-0F1F-8810-2E34-3A66BE232491}"/>
              </a:ext>
            </a:extLst>
          </p:cNvPr>
          <p:cNvSpPr/>
          <p:nvPr/>
        </p:nvSpPr>
        <p:spPr>
          <a:xfrm>
            <a:off x="83312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03807547-BC9A-5525-4C41-155FB89A63BD}"/>
              </a:ext>
            </a:extLst>
          </p:cNvPr>
          <p:cNvSpPr txBox="1"/>
          <p:nvPr/>
        </p:nvSpPr>
        <p:spPr>
          <a:xfrm>
            <a:off x="8331200" y="22860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User Acceptance Testing</a:t>
            </a:r>
          </a:p>
        </p:txBody>
      </p:sp>
      <p:sp>
        <p:nvSpPr>
          <p:cNvPr id="21" name="TextBox 20">
            <a:extLst>
              <a:ext uri="{FF2B5EF4-FFF2-40B4-BE49-F238E27FC236}">
                <a16:creationId xmlns:a16="http://schemas.microsoft.com/office/drawing/2014/main" id="{4089E7E5-720D-0B97-2D50-8D18A487AC19}"/>
              </a:ext>
            </a:extLst>
          </p:cNvPr>
          <p:cNvSpPr txBox="1"/>
          <p:nvPr/>
        </p:nvSpPr>
        <p:spPr>
          <a:xfrm>
            <a:off x="8331200" y="2667000"/>
            <a:ext cx="3048000" cy="432170"/>
          </a:xfrm>
          <a:prstGeom prst="rect">
            <a:avLst/>
          </a:prstGeom>
          <a:noFill/>
        </p:spPr>
        <p:txBody>
          <a:bodyPr vert="horz" wrap="square" lIns="0" tIns="0" rIns="0" bIns="0" rtlCol="0">
            <a:noAutofit/>
          </a:bodyPr>
          <a:lstStyle/>
          <a:p>
            <a:r>
              <a:rPr lang="fi-FI" sz="1130">
                <a:solidFill>
                  <a:srgbClr val="243745"/>
                </a:solidFill>
                <a:latin typeface="Aptos" panose="020B0004020202020204" pitchFamily="34" charset="0"/>
              </a:rPr>
              <a:t>Menilai penerimaan dan kemudahan pakai.</a:t>
            </a:r>
            <a:endParaRPr lang="id-ID" sz="113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B9A0B67F-6F98-4F65-A92E-A0CE95404AFB}"/>
              </a:ext>
            </a:extLst>
          </p:cNvPr>
          <p:cNvSpPr/>
          <p:nvPr/>
        </p:nvSpPr>
        <p:spPr>
          <a:xfrm>
            <a:off x="6096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B89810E3-A7EB-9E8A-7D6A-948C5A2D1B95}"/>
              </a:ext>
            </a:extLst>
          </p:cNvPr>
          <p:cNvSpPr/>
          <p:nvPr/>
        </p:nvSpPr>
        <p:spPr>
          <a:xfrm>
            <a:off x="812800" y="3632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DD54E1B0-2DD4-8F2B-CD1F-B699036FC6DF}"/>
              </a:ext>
            </a:extLst>
          </p:cNvPr>
          <p:cNvSpPr txBox="1"/>
          <p:nvPr/>
        </p:nvSpPr>
        <p:spPr>
          <a:xfrm>
            <a:off x="812800" y="37592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System / end-to-end</a:t>
            </a:r>
          </a:p>
        </p:txBody>
      </p:sp>
      <p:sp>
        <p:nvSpPr>
          <p:cNvPr id="25" name="TextBox 24">
            <a:extLst>
              <a:ext uri="{FF2B5EF4-FFF2-40B4-BE49-F238E27FC236}">
                <a16:creationId xmlns:a16="http://schemas.microsoft.com/office/drawing/2014/main" id="{F4A2E80B-6059-E645-3EE0-5F3B16CA0C56}"/>
              </a:ext>
            </a:extLst>
          </p:cNvPr>
          <p:cNvSpPr txBox="1"/>
          <p:nvPr/>
        </p:nvSpPr>
        <p:spPr>
          <a:xfrm>
            <a:off x="812800" y="4140200"/>
            <a:ext cx="30480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Menguji satu perjalanan pengguna secara utuh.</a:t>
            </a:r>
          </a:p>
        </p:txBody>
      </p:sp>
      <p:sp>
        <p:nvSpPr>
          <p:cNvPr id="26" name="Rectangle: Rounded Corners 25">
            <a:extLst>
              <a:ext uri="{FF2B5EF4-FFF2-40B4-BE49-F238E27FC236}">
                <a16:creationId xmlns:a16="http://schemas.microsoft.com/office/drawing/2014/main" id="{9052143F-A14A-E01F-14C0-2C4CDA8A40E2}"/>
              </a:ext>
            </a:extLst>
          </p:cNvPr>
          <p:cNvSpPr/>
          <p:nvPr/>
        </p:nvSpPr>
        <p:spPr>
          <a:xfrm>
            <a:off x="43688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4B5C55E7-9716-66B6-0914-26C6209125F3}"/>
              </a:ext>
            </a:extLst>
          </p:cNvPr>
          <p:cNvSpPr/>
          <p:nvPr/>
        </p:nvSpPr>
        <p:spPr>
          <a:xfrm>
            <a:off x="4572000" y="3632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03324D84-BB86-EDAC-7C86-36416B93B093}"/>
              </a:ext>
            </a:extLst>
          </p:cNvPr>
          <p:cNvSpPr txBox="1"/>
          <p:nvPr/>
        </p:nvSpPr>
        <p:spPr>
          <a:xfrm>
            <a:off x="4572000" y="37592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White-box / unit</a:t>
            </a:r>
          </a:p>
        </p:txBody>
      </p:sp>
      <p:sp>
        <p:nvSpPr>
          <p:cNvPr id="29" name="TextBox 28">
            <a:extLst>
              <a:ext uri="{FF2B5EF4-FFF2-40B4-BE49-F238E27FC236}">
                <a16:creationId xmlns:a16="http://schemas.microsoft.com/office/drawing/2014/main" id="{E8EFA6BC-BF65-5748-169F-0144444C0821}"/>
              </a:ext>
            </a:extLst>
          </p:cNvPr>
          <p:cNvSpPr txBox="1"/>
          <p:nvPr/>
        </p:nvSpPr>
        <p:spPr>
          <a:xfrm>
            <a:off x="4572000" y="4140200"/>
            <a:ext cx="30480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Menguji logika internal class dan method backend.</a:t>
            </a:r>
          </a:p>
        </p:txBody>
      </p:sp>
      <p:sp>
        <p:nvSpPr>
          <p:cNvPr id="30" name="Rectangle: Rounded Corners 29">
            <a:extLst>
              <a:ext uri="{FF2B5EF4-FFF2-40B4-BE49-F238E27FC236}">
                <a16:creationId xmlns:a16="http://schemas.microsoft.com/office/drawing/2014/main" id="{FDBE3D0A-B1F6-EEA0-C854-9FF413D4D41A}"/>
              </a:ext>
            </a:extLst>
          </p:cNvPr>
          <p:cNvSpPr/>
          <p:nvPr/>
        </p:nvSpPr>
        <p:spPr>
          <a:xfrm>
            <a:off x="81280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F0B5309A-436A-A766-26F5-47BFB838E22E}"/>
              </a:ext>
            </a:extLst>
          </p:cNvPr>
          <p:cNvSpPr/>
          <p:nvPr/>
        </p:nvSpPr>
        <p:spPr>
          <a:xfrm>
            <a:off x="8331200" y="3632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D253D94A-10B3-1D5D-7D06-AF94C53569C2}"/>
              </a:ext>
            </a:extLst>
          </p:cNvPr>
          <p:cNvSpPr txBox="1"/>
          <p:nvPr/>
        </p:nvSpPr>
        <p:spPr>
          <a:xfrm>
            <a:off x="8331200" y="37592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Performance smoke</a:t>
            </a:r>
          </a:p>
        </p:txBody>
      </p:sp>
      <p:sp>
        <p:nvSpPr>
          <p:cNvPr id="33" name="TextBox 32">
            <a:extLst>
              <a:ext uri="{FF2B5EF4-FFF2-40B4-BE49-F238E27FC236}">
                <a16:creationId xmlns:a16="http://schemas.microsoft.com/office/drawing/2014/main" id="{5520FD03-497E-4B21-48C7-B2A1E4C89068}"/>
              </a:ext>
            </a:extLst>
          </p:cNvPr>
          <p:cNvSpPr txBox="1"/>
          <p:nvPr/>
        </p:nvSpPr>
        <p:spPr>
          <a:xfrm>
            <a:off x="8331200" y="4140200"/>
            <a:ext cx="30480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Mengukur respons dasar fungsi penting secara ringan.</a:t>
            </a:r>
          </a:p>
        </p:txBody>
      </p:sp>
      <p:sp>
        <p:nvSpPr>
          <p:cNvPr id="34" name="Rectangle: Rounded Corners 33">
            <a:extLst>
              <a:ext uri="{FF2B5EF4-FFF2-40B4-BE49-F238E27FC236}">
                <a16:creationId xmlns:a16="http://schemas.microsoft.com/office/drawing/2014/main" id="{72FCC272-3A0F-8F7D-D711-C013D9A2DB93}"/>
              </a:ext>
            </a:extLst>
          </p:cNvPr>
          <p:cNvSpPr/>
          <p:nvPr/>
        </p:nvSpPr>
        <p:spPr>
          <a:xfrm>
            <a:off x="4368800" y="49022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FA9D81F4-E7B3-406C-C6AB-B8F59A5B85AC}"/>
              </a:ext>
            </a:extLst>
          </p:cNvPr>
          <p:cNvSpPr/>
          <p:nvPr/>
        </p:nvSpPr>
        <p:spPr>
          <a:xfrm>
            <a:off x="4572000" y="5105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8A3D096C-8B55-A828-846A-92E787AD398E}"/>
              </a:ext>
            </a:extLst>
          </p:cNvPr>
          <p:cNvSpPr txBox="1"/>
          <p:nvPr/>
        </p:nvSpPr>
        <p:spPr>
          <a:xfrm>
            <a:off x="4572000" y="52324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Basic security</a:t>
            </a:r>
          </a:p>
        </p:txBody>
      </p:sp>
      <p:sp>
        <p:nvSpPr>
          <p:cNvPr id="37" name="TextBox 36">
            <a:extLst>
              <a:ext uri="{FF2B5EF4-FFF2-40B4-BE49-F238E27FC236}">
                <a16:creationId xmlns:a16="http://schemas.microsoft.com/office/drawing/2014/main" id="{2D480CFC-FC8B-18EC-E989-725560F3F71D}"/>
              </a:ext>
            </a:extLst>
          </p:cNvPr>
          <p:cNvSpPr txBox="1"/>
          <p:nvPr/>
        </p:nvSpPr>
        <p:spPr>
          <a:xfrm>
            <a:off x="4572000" y="5613400"/>
            <a:ext cx="3048000" cy="432170"/>
          </a:xfrm>
          <a:prstGeom prst="rect">
            <a:avLst/>
          </a:prstGeom>
          <a:noFill/>
        </p:spPr>
        <p:txBody>
          <a:bodyPr vert="horz" wrap="square" lIns="0" tIns="0" rIns="0" bIns="0" rtlCol="0">
            <a:noAutofit/>
          </a:bodyPr>
          <a:lstStyle/>
          <a:p>
            <a:r>
              <a:rPr lang="fi-FI" sz="1130">
                <a:solidFill>
                  <a:srgbClr val="243745"/>
                </a:solidFill>
                <a:latin typeface="Aptos" panose="020B0004020202020204" pitchFamily="34" charset="0"/>
              </a:rPr>
              <a:t>Memeriksa kontrol akses dan validasi input.</a:t>
            </a:r>
            <a:endParaRPr lang="id-ID" sz="1130">
              <a:solidFill>
                <a:srgbClr val="243745"/>
              </a:solidFill>
              <a:latin typeface="Aptos" panose="020B0004020202020204" pitchFamily="34" charset="0"/>
            </a:endParaRPr>
          </a:p>
        </p:txBody>
      </p:sp>
      <p:sp>
        <p:nvSpPr>
          <p:cNvPr id="38" name="TextBox 37">
            <a:extLst>
              <a:ext uri="{FF2B5EF4-FFF2-40B4-BE49-F238E27FC236}">
                <a16:creationId xmlns:a16="http://schemas.microsoft.com/office/drawing/2014/main" id="{568212F7-0D6B-71CC-18EB-B38E8FFB7859}"/>
              </a:ext>
            </a:extLst>
          </p:cNvPr>
          <p:cNvSpPr txBox="1"/>
          <p:nvPr/>
        </p:nvSpPr>
        <p:spPr>
          <a:xfrm>
            <a:off x="660400" y="6223000"/>
            <a:ext cx="10922000" cy="432170"/>
          </a:xfrm>
          <a:prstGeom prst="rect">
            <a:avLst/>
          </a:prstGeom>
          <a:noFill/>
        </p:spPr>
        <p:txBody>
          <a:bodyPr vert="horz" wrap="square" lIns="0" tIns="0" rIns="0" bIns="0" rtlCol="0">
            <a:noAutofit/>
          </a:bodyPr>
          <a:lstStyle/>
          <a:p>
            <a:r>
              <a:rPr lang="id-ID" sz="1100">
                <a:solidFill>
                  <a:srgbClr val="65727D"/>
                </a:solidFill>
                <a:latin typeface="Aptos" panose="020B0004020202020204" pitchFamily="34" charset="0"/>
              </a:rPr>
              <a:t>Pesan utama untuk pembimbing: metode yang direkomendasikan bukan satu metode tunggal, tetapi kombinasi yang dipilih sesuai karakter geoportal.</a:t>
            </a:r>
          </a:p>
        </p:txBody>
      </p:sp>
      <p:cxnSp>
        <p:nvCxnSpPr>
          <p:cNvPr id="39" name="Straight Connector 38">
            <a:extLst>
              <a:ext uri="{FF2B5EF4-FFF2-40B4-BE49-F238E27FC236}">
                <a16:creationId xmlns:a16="http://schemas.microsoft.com/office/drawing/2014/main" id="{D000F745-F499-D242-7B6E-A1ECC3FDDFD1}"/>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C6BA11D8-FA56-244E-57AF-B8BD82B5402E}"/>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41" name="TextBox 40">
            <a:extLst>
              <a:ext uri="{FF2B5EF4-FFF2-40B4-BE49-F238E27FC236}">
                <a16:creationId xmlns:a16="http://schemas.microsoft.com/office/drawing/2014/main" id="{EACC2922-1F25-5DF3-9BFB-EF4E7BAF0DF9}"/>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03</a:t>
            </a:r>
          </a:p>
        </p:txBody>
      </p:sp>
    </p:spTree>
    <p:extLst>
      <p:ext uri="{BB962C8B-B14F-4D97-AF65-F5344CB8AC3E}">
        <p14:creationId xmlns:p14="http://schemas.microsoft.com/office/powerpoint/2010/main" val="2169293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5C72198-3C2F-F002-33A5-CC35F01A29A1}"/>
              </a:ext>
            </a:extLst>
          </p:cNvPr>
          <p:cNvSpPr/>
          <p:nvPr/>
        </p:nvSpPr>
        <p:spPr>
          <a:xfrm rot="-1080000">
            <a:off x="-889000" y="3810000"/>
            <a:ext cx="3302000" cy="2286000"/>
          </a:xfrm>
          <a:prstGeom prst="roundRect">
            <a:avLst>
              <a:gd name="adj" fmla="val 7000"/>
            </a:avLst>
          </a:prstGeom>
          <a:solidFill>
            <a:srgbClr val="1E7C74">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302BDA0E-1FCB-ACD2-5F68-5DE3E8AACC79}"/>
              </a:ext>
            </a:extLst>
          </p:cNvPr>
          <p:cNvSpPr/>
          <p:nvPr/>
        </p:nvSpPr>
        <p:spPr>
          <a:xfrm rot="960000">
            <a:off x="5334000" y="-889000"/>
            <a:ext cx="4445000" cy="2794000"/>
          </a:xfrm>
          <a:prstGeom prst="roundRect">
            <a:avLst>
              <a:gd name="adj" fmla="val 6000"/>
            </a:avLst>
          </a:prstGeom>
          <a:solidFill>
            <a:srgbClr val="B86A2D">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B645B3BE-D96A-478D-1601-A0C3AC602228}"/>
              </a:ext>
            </a:extLst>
          </p:cNvPr>
          <p:cNvSpPr/>
          <p:nvPr/>
        </p:nvSpPr>
        <p:spPr>
          <a:xfrm>
            <a:off x="0" y="0"/>
            <a:ext cx="91440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E5206C12-8616-02F9-0C77-5BB1E082B613}"/>
              </a:ext>
            </a:extLst>
          </p:cNvPr>
          <p:cNvSpPr txBox="1"/>
          <p:nvPr/>
        </p:nvSpPr>
        <p:spPr>
          <a:xfrm>
            <a:off x="7874000" y="1371600"/>
            <a:ext cx="3556000" cy="216085"/>
          </a:xfrm>
          <a:prstGeom prst="rect">
            <a:avLst/>
          </a:prstGeom>
          <a:noFill/>
        </p:spPr>
        <p:txBody>
          <a:bodyPr vert="horz" wrap="square" lIns="0" tIns="0" rIns="0" bIns="0" rtlCol="0">
            <a:noAutofit/>
          </a:bodyPr>
          <a:lstStyle/>
          <a:p>
            <a:r>
              <a:rPr lang="id-ID" sz="8800" i="1">
                <a:solidFill>
                  <a:srgbClr val="F0E2D1"/>
                </a:solidFill>
                <a:latin typeface="Georgia" panose="02040502050405020303" pitchFamily="18" charset="0"/>
              </a:rPr>
              <a:t>01-07</a:t>
            </a:r>
          </a:p>
        </p:txBody>
      </p:sp>
      <p:sp>
        <p:nvSpPr>
          <p:cNvPr id="6" name="TextBox 5">
            <a:extLst>
              <a:ext uri="{FF2B5EF4-FFF2-40B4-BE49-F238E27FC236}">
                <a16:creationId xmlns:a16="http://schemas.microsoft.com/office/drawing/2014/main" id="{6F9079BF-BDF0-7D62-42DF-8DE9A4F88123}"/>
              </a:ext>
            </a:extLst>
          </p:cNvPr>
          <p:cNvSpPr txBox="1"/>
          <p:nvPr/>
        </p:nvSpPr>
        <p:spPr>
          <a:xfrm>
            <a:off x="736600" y="787400"/>
            <a:ext cx="2032000" cy="216085"/>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Deep Dive</a:t>
            </a:r>
          </a:p>
        </p:txBody>
      </p:sp>
      <p:sp>
        <p:nvSpPr>
          <p:cNvPr id="7" name="TextBox 6">
            <a:extLst>
              <a:ext uri="{FF2B5EF4-FFF2-40B4-BE49-F238E27FC236}">
                <a16:creationId xmlns:a16="http://schemas.microsoft.com/office/drawing/2014/main" id="{4C7837CD-94B3-561D-E641-905B5F240861}"/>
              </a:ext>
            </a:extLst>
          </p:cNvPr>
          <p:cNvSpPr txBox="1"/>
          <p:nvPr/>
        </p:nvSpPr>
        <p:spPr>
          <a:xfrm>
            <a:off x="736600" y="1625600"/>
            <a:ext cx="6604000" cy="216085"/>
          </a:xfrm>
          <a:prstGeom prst="rect">
            <a:avLst/>
          </a:prstGeom>
          <a:noFill/>
        </p:spPr>
        <p:txBody>
          <a:bodyPr vert="horz" wrap="square" lIns="0" tIns="0" rIns="0" bIns="0" rtlCol="0">
            <a:noAutofit/>
          </a:bodyPr>
          <a:lstStyle/>
          <a:p>
            <a:r>
              <a:rPr lang="id-ID" sz="2800" b="1">
                <a:solidFill>
                  <a:srgbClr val="FFFCF8"/>
                </a:solidFill>
                <a:latin typeface="Georgia" panose="02040502050405020303" pitchFamily="18" charset="0"/>
              </a:rPr>
              <a:t>Detail setiap metode pengujian</a:t>
            </a:r>
          </a:p>
        </p:txBody>
      </p:sp>
      <p:sp>
        <p:nvSpPr>
          <p:cNvPr id="8" name="TextBox 7">
            <a:extLst>
              <a:ext uri="{FF2B5EF4-FFF2-40B4-BE49-F238E27FC236}">
                <a16:creationId xmlns:a16="http://schemas.microsoft.com/office/drawing/2014/main" id="{0EFF51D8-2EA9-4F92-533D-30EBF1F255DF}"/>
              </a:ext>
            </a:extLst>
          </p:cNvPr>
          <p:cNvSpPr txBox="1"/>
          <p:nvPr/>
        </p:nvSpPr>
        <p:spPr>
          <a:xfrm>
            <a:off x="736600" y="2692400"/>
            <a:ext cx="5842000" cy="432170"/>
          </a:xfrm>
          <a:prstGeom prst="rect">
            <a:avLst/>
          </a:prstGeom>
          <a:noFill/>
        </p:spPr>
        <p:txBody>
          <a:bodyPr vert="horz" wrap="square" lIns="0" tIns="0" rIns="0" bIns="0" rtlCol="0">
            <a:noAutofit/>
          </a:bodyPr>
          <a:lstStyle/>
          <a:p>
            <a:r>
              <a:rPr lang="id-ID" sz="1400">
                <a:solidFill>
                  <a:srgbClr val="E9DED0"/>
                </a:solidFill>
                <a:latin typeface="Aptos" panose="020B0004020202020204" pitchFamily="34" charset="0"/>
              </a:rPr>
              <a:t>Bagian ini menjelaskan definisi, alur, pihak yang dibutuhkan, artefak, dan kapan metode dipakai.</a:t>
            </a:r>
          </a:p>
        </p:txBody>
      </p:sp>
      <p:cxnSp>
        <p:nvCxnSpPr>
          <p:cNvPr id="9" name="Straight Connector 8">
            <a:extLst>
              <a:ext uri="{FF2B5EF4-FFF2-40B4-BE49-F238E27FC236}">
                <a16:creationId xmlns:a16="http://schemas.microsoft.com/office/drawing/2014/main" id="{5670972E-C7B3-8A8A-D46B-98F0368F23AA}"/>
              </a:ext>
            </a:extLst>
          </p:cNvPr>
          <p:cNvCxnSpPr/>
          <p:nvPr/>
        </p:nvCxnSpPr>
        <p:spPr>
          <a:xfrm>
            <a:off x="558800" y="5359400"/>
            <a:ext cx="8026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CE3857D-51B8-661F-12AD-42188A57E12F}"/>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11" name="TextBox 10">
            <a:extLst>
              <a:ext uri="{FF2B5EF4-FFF2-40B4-BE49-F238E27FC236}">
                <a16:creationId xmlns:a16="http://schemas.microsoft.com/office/drawing/2014/main" id="{CA22EAF6-5125-DFCF-0056-33E7E4BD96F5}"/>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04</a:t>
            </a:r>
          </a:p>
        </p:txBody>
      </p:sp>
    </p:spTree>
    <p:extLst>
      <p:ext uri="{BB962C8B-B14F-4D97-AF65-F5344CB8AC3E}">
        <p14:creationId xmlns:p14="http://schemas.microsoft.com/office/powerpoint/2010/main" val="3742291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86B86A-126D-049C-2FFA-E7D99C98A5AC}"/>
              </a:ext>
            </a:extLst>
          </p:cNvPr>
          <p:cNvSpPr/>
          <p:nvPr/>
        </p:nvSpPr>
        <p:spPr>
          <a:xfrm>
            <a:off x="0" y="0"/>
            <a:ext cx="32766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B2D00938-444A-B678-CC1F-AB071D6A4F06}"/>
              </a:ext>
            </a:extLst>
          </p:cNvPr>
          <p:cNvSpPr/>
          <p:nvPr/>
        </p:nvSpPr>
        <p:spPr>
          <a:xfrm>
            <a:off x="0" y="0"/>
            <a:ext cx="228600" cy="5715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919DA329-9F3C-A080-C06F-7302C9A2E238}"/>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ED881CE2-EF53-408C-138F-6DC1BBDCB44A}"/>
              </a:ext>
            </a:extLst>
          </p:cNvPr>
          <p:cNvSpPr/>
          <p:nvPr/>
        </p:nvSpPr>
        <p:spPr>
          <a:xfrm>
            <a:off x="5969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5E5C77E9-88B2-4654-64BB-2784AE0FD277}"/>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09A11398-B15E-D5E7-3AAF-356924706012}"/>
              </a:ext>
            </a:extLst>
          </p:cNvPr>
          <p:cNvSpPr txBox="1"/>
          <p:nvPr/>
        </p:nvSpPr>
        <p:spPr>
          <a:xfrm>
            <a:off x="533400" y="685800"/>
            <a:ext cx="2032000" cy="216085"/>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01</a:t>
            </a:r>
          </a:p>
        </p:txBody>
      </p:sp>
      <p:sp>
        <p:nvSpPr>
          <p:cNvPr id="8" name="TextBox 7">
            <a:extLst>
              <a:ext uri="{FF2B5EF4-FFF2-40B4-BE49-F238E27FC236}">
                <a16:creationId xmlns:a16="http://schemas.microsoft.com/office/drawing/2014/main" id="{89206EDA-1272-E60D-AB59-F679DEE37FCE}"/>
              </a:ext>
            </a:extLst>
          </p:cNvPr>
          <p:cNvSpPr txBox="1"/>
          <p:nvPr/>
        </p:nvSpPr>
        <p:spPr>
          <a:xfrm>
            <a:off x="533400" y="1803400"/>
            <a:ext cx="2260600" cy="216085"/>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Black-box Functional Testing</a:t>
            </a:r>
          </a:p>
        </p:txBody>
      </p:sp>
      <p:sp>
        <p:nvSpPr>
          <p:cNvPr id="9" name="TextBox 8">
            <a:extLst>
              <a:ext uri="{FF2B5EF4-FFF2-40B4-BE49-F238E27FC236}">
                <a16:creationId xmlns:a16="http://schemas.microsoft.com/office/drawing/2014/main" id="{9D0DB115-30F3-7D12-0A78-483F154B8906}"/>
              </a:ext>
            </a:extLst>
          </p:cNvPr>
          <p:cNvSpPr txBox="1"/>
          <p:nvPr/>
        </p:nvSpPr>
        <p:spPr>
          <a:xfrm>
            <a:off x="533400" y="2870200"/>
            <a:ext cx="2159000" cy="648254"/>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Menguji apakah fitur bekerja benar dari sudut pandang pengguna.</a:t>
            </a:r>
          </a:p>
        </p:txBody>
      </p:sp>
      <p:sp>
        <p:nvSpPr>
          <p:cNvPr id="10" name="Rectangle: Rounded Corners 9">
            <a:extLst>
              <a:ext uri="{FF2B5EF4-FFF2-40B4-BE49-F238E27FC236}">
                <a16:creationId xmlns:a16="http://schemas.microsoft.com/office/drawing/2014/main" id="{A8062F0F-1FBF-40FC-0AA5-73DD29100CD1}"/>
              </a:ext>
            </a:extLst>
          </p:cNvPr>
          <p:cNvSpPr/>
          <p:nvPr/>
        </p:nvSpPr>
        <p:spPr>
          <a:xfrm>
            <a:off x="533400" y="4089400"/>
            <a:ext cx="2057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98B2B30A-D6FD-8915-1DFE-5630024F4913}"/>
              </a:ext>
            </a:extLst>
          </p:cNvPr>
          <p:cNvSpPr txBox="1"/>
          <p:nvPr/>
        </p:nvSpPr>
        <p:spPr>
          <a:xfrm>
            <a:off x="685800" y="4165600"/>
            <a:ext cx="1752600" cy="432170"/>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CORE METHOD FOR CAPSTONE</a:t>
            </a:r>
          </a:p>
        </p:txBody>
      </p:sp>
      <p:sp>
        <p:nvSpPr>
          <p:cNvPr id="12" name="TextBox 11">
            <a:extLst>
              <a:ext uri="{FF2B5EF4-FFF2-40B4-BE49-F238E27FC236}">
                <a16:creationId xmlns:a16="http://schemas.microsoft.com/office/drawing/2014/main" id="{2EA06A69-FDD1-E413-C074-A3D34941E4E0}"/>
              </a:ext>
            </a:extLst>
          </p:cNvPr>
          <p:cNvSpPr txBox="1"/>
          <p:nvPr/>
        </p:nvSpPr>
        <p:spPr>
          <a:xfrm>
            <a:off x="533400" y="4749800"/>
            <a:ext cx="2133600" cy="1080424"/>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C40591A1-55AE-7650-7D25-F86D7540FFCF}"/>
              </a:ext>
            </a:extLst>
          </p:cNvPr>
          <p:cNvSpPr txBox="1"/>
          <p:nvPr/>
        </p:nvSpPr>
        <p:spPr>
          <a:xfrm>
            <a:off x="3708400" y="533400"/>
            <a:ext cx="1524000" cy="216085"/>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F86353D0-601D-FBCC-5A92-2CA0D6D46881}"/>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CF9EDA08-5858-D0FD-4A52-C41EE75BD2B5}"/>
              </a:ext>
            </a:extLst>
          </p:cNvPr>
          <p:cNvSpPr/>
          <p:nvPr/>
        </p:nvSpPr>
        <p:spPr>
          <a:xfrm>
            <a:off x="3835400" y="939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32E5A3CA-BF10-07E4-6AD1-02F588370E14}"/>
              </a:ext>
            </a:extLst>
          </p:cNvPr>
          <p:cNvSpPr txBox="1"/>
          <p:nvPr/>
        </p:nvSpPr>
        <p:spPr>
          <a:xfrm>
            <a:off x="3835400" y="1066800"/>
            <a:ext cx="75438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2E4897AE-4335-06FC-9000-8F9D7652D044}"/>
              </a:ext>
            </a:extLst>
          </p:cNvPr>
          <p:cNvSpPr txBox="1"/>
          <p:nvPr/>
        </p:nvSpPr>
        <p:spPr>
          <a:xfrm>
            <a:off x="3835400" y="1447800"/>
            <a:ext cx="7543800" cy="648254"/>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Black-box functional testing adalah pengujian yang memeriksa fungsi aplikasi berdasarkan input, proses, dan output yang terlihat oleh pengguna, tanpa perlu masuk ke detail implementasi kode internal.</a:t>
            </a:r>
          </a:p>
        </p:txBody>
      </p:sp>
      <p:sp>
        <p:nvSpPr>
          <p:cNvPr id="18" name="Rectangle: Rounded Corners 17">
            <a:extLst>
              <a:ext uri="{FF2B5EF4-FFF2-40B4-BE49-F238E27FC236}">
                <a16:creationId xmlns:a16="http://schemas.microsoft.com/office/drawing/2014/main" id="{F72F2FB8-B86E-428D-5451-9665DC45AD4A}"/>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286DAEEE-F774-03C8-AED4-BDA4CA49CC0C}"/>
              </a:ext>
            </a:extLst>
          </p:cNvPr>
          <p:cNvSpPr/>
          <p:nvPr/>
        </p:nvSpPr>
        <p:spPr>
          <a:xfrm>
            <a:off x="3835400" y="2336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9F5DBA3C-0145-29A6-AC29-69DE994910A5}"/>
              </a:ext>
            </a:extLst>
          </p:cNvPr>
          <p:cNvSpPr txBox="1"/>
          <p:nvPr/>
        </p:nvSpPr>
        <p:spPr>
          <a:xfrm>
            <a:off x="38354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F71F1CDA-5699-9EF4-278C-DCE092A13844}"/>
              </a:ext>
            </a:extLst>
          </p:cNvPr>
          <p:cNvSpPr txBox="1"/>
          <p:nvPr/>
        </p:nvSpPr>
        <p:spPr>
          <a:xfrm>
            <a:off x="3835400" y="2844800"/>
            <a:ext cx="3429000" cy="1728678"/>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Turunkan requirement menjadi test case per fitur utama.</a:t>
            </a:r>
          </a:p>
          <a:p>
            <a:r>
              <a:rPr lang="id-ID" sz="1070">
                <a:solidFill>
                  <a:srgbClr val="243745"/>
                </a:solidFill>
                <a:latin typeface="Aptos" panose="020B0004020202020204" pitchFamily="34" charset="0"/>
              </a:rPr>
              <a:t>2. Siapkan akun, data uji, dan prasyarat tiap skenario.</a:t>
            </a:r>
          </a:p>
          <a:p>
            <a:r>
              <a:rPr lang="id-ID" sz="1070">
                <a:solidFill>
                  <a:srgbClr val="243745"/>
                </a:solidFill>
                <a:latin typeface="Aptos" panose="020B0004020202020204" pitchFamily="34" charset="0"/>
              </a:rPr>
              <a:t>3. Jalankan langkah pengujian melalui UI atau endpoint yang relevan.</a:t>
            </a:r>
          </a:p>
          <a:p>
            <a:r>
              <a:rPr lang="id-ID" sz="1070">
                <a:solidFill>
                  <a:srgbClr val="243745"/>
                </a:solidFill>
                <a:latin typeface="Aptos" panose="020B0004020202020204" pitchFamily="34" charset="0"/>
              </a:rPr>
              <a:t>4. Catat hasil pass atau fail beserta screenshot dan observasi.</a:t>
            </a:r>
          </a:p>
        </p:txBody>
      </p:sp>
      <p:sp>
        <p:nvSpPr>
          <p:cNvPr id="22" name="Rectangle: Rounded Corners 21">
            <a:extLst>
              <a:ext uri="{FF2B5EF4-FFF2-40B4-BE49-F238E27FC236}">
                <a16:creationId xmlns:a16="http://schemas.microsoft.com/office/drawing/2014/main" id="{20B82A79-D464-6083-9A12-2E3A72A87229}"/>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87017A37-5674-91D6-6052-5B25EAAFCFF5}"/>
              </a:ext>
            </a:extLst>
          </p:cNvPr>
          <p:cNvSpPr/>
          <p:nvPr/>
        </p:nvSpPr>
        <p:spPr>
          <a:xfrm>
            <a:off x="7950200" y="2336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08C2BD52-08F9-6E5C-D25E-79F105EFF989}"/>
              </a:ext>
            </a:extLst>
          </p:cNvPr>
          <p:cNvSpPr txBox="1"/>
          <p:nvPr/>
        </p:nvSpPr>
        <p:spPr>
          <a:xfrm>
            <a:off x="79502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75FEF3A9-E5ED-E535-BD20-C628F69625A0}"/>
              </a:ext>
            </a:extLst>
          </p:cNvPr>
          <p:cNvSpPr txBox="1"/>
          <p:nvPr/>
        </p:nvSpPr>
        <p:spPr>
          <a:xfrm>
            <a:off x="7950200" y="2844800"/>
            <a:ext cx="3429000" cy="864339"/>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Akun admin dan user sebagai aktor uji.</a:t>
            </a:r>
          </a:p>
          <a:p>
            <a:r>
              <a:rPr lang="id-ID" sz="1070">
                <a:solidFill>
                  <a:srgbClr val="243745"/>
                </a:solidFill>
                <a:latin typeface="Aptos" panose="020B0004020202020204" pitchFamily="34" charset="0"/>
              </a:rPr>
              <a:t>- Pembimbing sebagai reviewer hasil, tidak wajib ikut saat eksekusi.</a:t>
            </a:r>
          </a:p>
        </p:txBody>
      </p:sp>
      <p:sp>
        <p:nvSpPr>
          <p:cNvPr id="26" name="Rectangle: Rounded Corners 25">
            <a:extLst>
              <a:ext uri="{FF2B5EF4-FFF2-40B4-BE49-F238E27FC236}">
                <a16:creationId xmlns:a16="http://schemas.microsoft.com/office/drawing/2014/main" id="{C674DC15-092D-23E8-3922-62B7F6F1923E}"/>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B53F1902-C2A6-E9B4-7C2D-DA74871993B8}"/>
              </a:ext>
            </a:extLst>
          </p:cNvPr>
          <p:cNvSpPr/>
          <p:nvPr/>
        </p:nvSpPr>
        <p:spPr>
          <a:xfrm>
            <a:off x="3835400" y="4572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2F74D27F-AEC4-9D12-3F93-C4ADF24C7A7A}"/>
              </a:ext>
            </a:extLst>
          </p:cNvPr>
          <p:cNvSpPr txBox="1"/>
          <p:nvPr/>
        </p:nvSpPr>
        <p:spPr>
          <a:xfrm>
            <a:off x="3835400" y="4699000"/>
            <a:ext cx="7543800" cy="216085"/>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65CF51F2-E643-196B-AFCC-06EBBACA0BF5}"/>
              </a:ext>
            </a:extLst>
          </p:cNvPr>
          <p:cNvSpPr txBox="1"/>
          <p:nvPr/>
        </p:nvSpPr>
        <p:spPr>
          <a:xfrm>
            <a:off x="3835400" y="5080000"/>
            <a:ext cx="7543800" cy="2901435"/>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Matriks test case.</a:t>
            </a:r>
          </a:p>
          <a:p>
            <a:r>
              <a:rPr lang="id-ID" sz="1020">
                <a:solidFill>
                  <a:srgbClr val="243745"/>
                </a:solidFill>
                <a:latin typeface="Aptos" panose="020B0004020202020204" pitchFamily="34" charset="0"/>
              </a:rPr>
              <a:t>- Execution log.</a:t>
            </a:r>
          </a:p>
          <a:p>
            <a:r>
              <a:rPr lang="id-ID" sz="1020">
                <a:solidFill>
                  <a:srgbClr val="243745"/>
                </a:solidFill>
                <a:latin typeface="Aptos" panose="020B0004020202020204" pitchFamily="34" charset="0"/>
              </a:rPr>
              <a:t>- Screenshot evidence per skenario.</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Spreadsheet test case.</a:t>
            </a:r>
          </a:p>
          <a:p>
            <a:r>
              <a:rPr lang="id-ID" sz="1020">
                <a:solidFill>
                  <a:srgbClr val="243745"/>
                </a:solidFill>
                <a:latin typeface="Aptos" panose="020B0004020202020204" pitchFamily="34" charset="0"/>
              </a:rPr>
              <a:t>- Postman bila ada endpoint yang ingin diuji langsung.</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Paling tepat untuk membuktikan requirement fitur seperti login, katalog, metadata, admin import, WebMap, dan download.</a:t>
            </a:r>
          </a:p>
        </p:txBody>
      </p:sp>
      <p:cxnSp>
        <p:nvCxnSpPr>
          <p:cNvPr id="30" name="Straight Connector 29">
            <a:extLst>
              <a:ext uri="{FF2B5EF4-FFF2-40B4-BE49-F238E27FC236}">
                <a16:creationId xmlns:a16="http://schemas.microsoft.com/office/drawing/2014/main" id="{8FAA3E62-F65A-3BD0-29A8-922B24CE1012}"/>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FC12FC00-E8B3-DB5C-CEB4-2FAD797F436D}"/>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886F48E7-E11B-AB3D-8BFA-25F7A939839E}"/>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05</a:t>
            </a:r>
          </a:p>
        </p:txBody>
      </p:sp>
    </p:spTree>
    <p:extLst>
      <p:ext uri="{BB962C8B-B14F-4D97-AF65-F5344CB8AC3E}">
        <p14:creationId xmlns:p14="http://schemas.microsoft.com/office/powerpoint/2010/main" val="682123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6C8310-D1E3-02B6-5926-5AB0605E05B4}"/>
              </a:ext>
            </a:extLst>
          </p:cNvPr>
          <p:cNvSpPr/>
          <p:nvPr/>
        </p:nvSpPr>
        <p:spPr>
          <a:xfrm>
            <a:off x="0" y="0"/>
            <a:ext cx="32766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02F61922-8F09-A311-48C8-226B56996D1B}"/>
              </a:ext>
            </a:extLst>
          </p:cNvPr>
          <p:cNvSpPr/>
          <p:nvPr/>
        </p:nvSpPr>
        <p:spPr>
          <a:xfrm>
            <a:off x="0" y="0"/>
            <a:ext cx="228600" cy="5715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AB90CBA7-1A71-EC07-BC1B-B400378174E2}"/>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FC32DD71-C5B8-3951-C09F-BB97812C641C}"/>
              </a:ext>
            </a:extLst>
          </p:cNvPr>
          <p:cNvSpPr/>
          <p:nvPr/>
        </p:nvSpPr>
        <p:spPr>
          <a:xfrm>
            <a:off x="5969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4C8C930D-D2BF-47EE-B558-5369142438C4}"/>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DA37A921-4B63-DF81-7AE4-C94C11596DA8}"/>
              </a:ext>
            </a:extLst>
          </p:cNvPr>
          <p:cNvSpPr txBox="1"/>
          <p:nvPr/>
        </p:nvSpPr>
        <p:spPr>
          <a:xfrm>
            <a:off x="533400" y="685800"/>
            <a:ext cx="2032000" cy="216085"/>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02</a:t>
            </a:r>
          </a:p>
        </p:txBody>
      </p:sp>
      <p:sp>
        <p:nvSpPr>
          <p:cNvPr id="8" name="TextBox 7">
            <a:extLst>
              <a:ext uri="{FF2B5EF4-FFF2-40B4-BE49-F238E27FC236}">
                <a16:creationId xmlns:a16="http://schemas.microsoft.com/office/drawing/2014/main" id="{A200EDE2-5CC7-C619-13CF-DE6B20C9BC46}"/>
              </a:ext>
            </a:extLst>
          </p:cNvPr>
          <p:cNvSpPr txBox="1"/>
          <p:nvPr/>
        </p:nvSpPr>
        <p:spPr>
          <a:xfrm>
            <a:off x="533400" y="1803400"/>
            <a:ext cx="2260600" cy="216085"/>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White-box / Unit Testing</a:t>
            </a:r>
          </a:p>
        </p:txBody>
      </p:sp>
      <p:sp>
        <p:nvSpPr>
          <p:cNvPr id="9" name="TextBox 8">
            <a:extLst>
              <a:ext uri="{FF2B5EF4-FFF2-40B4-BE49-F238E27FC236}">
                <a16:creationId xmlns:a16="http://schemas.microsoft.com/office/drawing/2014/main" id="{F660331E-D56E-EF42-4E89-F710212D374D}"/>
              </a:ext>
            </a:extLst>
          </p:cNvPr>
          <p:cNvSpPr txBox="1"/>
          <p:nvPr/>
        </p:nvSpPr>
        <p:spPr>
          <a:xfrm>
            <a:off x="533400" y="2870200"/>
            <a:ext cx="2159000" cy="648254"/>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Menguji logika fungsi atau class backend secara terisolasi.</a:t>
            </a:r>
          </a:p>
        </p:txBody>
      </p:sp>
      <p:sp>
        <p:nvSpPr>
          <p:cNvPr id="10" name="Rectangle: Rounded Corners 9">
            <a:extLst>
              <a:ext uri="{FF2B5EF4-FFF2-40B4-BE49-F238E27FC236}">
                <a16:creationId xmlns:a16="http://schemas.microsoft.com/office/drawing/2014/main" id="{E935F91B-92E1-0C00-4D0C-608532DE1589}"/>
              </a:ext>
            </a:extLst>
          </p:cNvPr>
          <p:cNvSpPr/>
          <p:nvPr/>
        </p:nvSpPr>
        <p:spPr>
          <a:xfrm>
            <a:off x="533400" y="4089400"/>
            <a:ext cx="2057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7FDC783B-1C7F-DB67-4A10-7782D8A0AD99}"/>
              </a:ext>
            </a:extLst>
          </p:cNvPr>
          <p:cNvSpPr txBox="1"/>
          <p:nvPr/>
        </p:nvSpPr>
        <p:spPr>
          <a:xfrm>
            <a:off x="685800" y="4165600"/>
            <a:ext cx="1752600" cy="432170"/>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OPTIONAL TECHNICAL DEPTH</a:t>
            </a:r>
          </a:p>
        </p:txBody>
      </p:sp>
      <p:sp>
        <p:nvSpPr>
          <p:cNvPr id="12" name="TextBox 11">
            <a:extLst>
              <a:ext uri="{FF2B5EF4-FFF2-40B4-BE49-F238E27FC236}">
                <a16:creationId xmlns:a16="http://schemas.microsoft.com/office/drawing/2014/main" id="{137C2EC6-6840-2A4F-37C0-94849D4C11F0}"/>
              </a:ext>
            </a:extLst>
          </p:cNvPr>
          <p:cNvSpPr txBox="1"/>
          <p:nvPr/>
        </p:nvSpPr>
        <p:spPr>
          <a:xfrm>
            <a:off x="533400" y="4749800"/>
            <a:ext cx="2133600" cy="1080424"/>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4917A89D-F45C-7592-438A-A05DBF7A8DF9}"/>
              </a:ext>
            </a:extLst>
          </p:cNvPr>
          <p:cNvSpPr txBox="1"/>
          <p:nvPr/>
        </p:nvSpPr>
        <p:spPr>
          <a:xfrm>
            <a:off x="3708400" y="533400"/>
            <a:ext cx="1524000" cy="216085"/>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BA941036-81E1-01A6-011F-19E4E7D774CC}"/>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53E7885-A023-CBD8-671C-3A05560302C8}"/>
              </a:ext>
            </a:extLst>
          </p:cNvPr>
          <p:cNvSpPr/>
          <p:nvPr/>
        </p:nvSpPr>
        <p:spPr>
          <a:xfrm>
            <a:off x="3835400" y="939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1750BC66-1199-E7F2-4C4E-12E430203A0A}"/>
              </a:ext>
            </a:extLst>
          </p:cNvPr>
          <p:cNvSpPr txBox="1"/>
          <p:nvPr/>
        </p:nvSpPr>
        <p:spPr>
          <a:xfrm>
            <a:off x="3835400" y="1066800"/>
            <a:ext cx="75438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958C0138-5BD4-863F-91D5-429D5B5D9BAE}"/>
              </a:ext>
            </a:extLst>
          </p:cNvPr>
          <p:cNvSpPr txBox="1"/>
          <p:nvPr/>
        </p:nvSpPr>
        <p:spPr>
          <a:xfrm>
            <a:off x="3835400" y="1447800"/>
            <a:ext cx="7543800" cy="432170"/>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White-box atau unit testing adalah pengujian yang memeriksa unit logika program seperti function, class, atau method tertentu berdasarkan perilaku kode internal dan hasil yang diharapkan.</a:t>
            </a:r>
          </a:p>
        </p:txBody>
      </p:sp>
      <p:sp>
        <p:nvSpPr>
          <p:cNvPr id="18" name="Rectangle: Rounded Corners 17">
            <a:extLst>
              <a:ext uri="{FF2B5EF4-FFF2-40B4-BE49-F238E27FC236}">
                <a16:creationId xmlns:a16="http://schemas.microsoft.com/office/drawing/2014/main" id="{EEC692C2-0D7E-6807-C753-D6035DCECF18}"/>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BE947991-EDB4-5DC3-A0F1-CCEC015DB69C}"/>
              </a:ext>
            </a:extLst>
          </p:cNvPr>
          <p:cNvSpPr/>
          <p:nvPr/>
        </p:nvSpPr>
        <p:spPr>
          <a:xfrm>
            <a:off x="3835400" y="2336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69AD1473-166A-918B-AA7C-B96CB7516324}"/>
              </a:ext>
            </a:extLst>
          </p:cNvPr>
          <p:cNvSpPr txBox="1"/>
          <p:nvPr/>
        </p:nvSpPr>
        <p:spPr>
          <a:xfrm>
            <a:off x="38354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6867205B-40F5-76E8-4E85-E41EF2B6156F}"/>
              </a:ext>
            </a:extLst>
          </p:cNvPr>
          <p:cNvSpPr txBox="1"/>
          <p:nvPr/>
        </p:nvSpPr>
        <p:spPr>
          <a:xfrm>
            <a:off x="3835400" y="2844800"/>
            <a:ext cx="3429000" cy="1728678"/>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Pilih komponen kritis seperti importer, registry, atau exporter.</a:t>
            </a:r>
          </a:p>
          <a:p>
            <a:r>
              <a:rPr lang="id-ID" sz="1070">
                <a:solidFill>
                  <a:srgbClr val="243745"/>
                </a:solidFill>
                <a:latin typeface="Aptos" panose="020B0004020202020204" pitchFamily="34" charset="0"/>
              </a:rPr>
              <a:t>2. Tentukan input, output, dan kondisi gagal yang perlu diuji.</a:t>
            </a:r>
          </a:p>
          <a:p>
            <a:r>
              <a:rPr lang="id-ID" sz="1070">
                <a:solidFill>
                  <a:srgbClr val="243745"/>
                </a:solidFill>
                <a:latin typeface="Aptos" panose="020B0004020202020204" pitchFamily="34" charset="0"/>
              </a:rPr>
              <a:t>3. Tulis test otomatis dan jalankan lewat test runner.</a:t>
            </a:r>
          </a:p>
          <a:p>
            <a:r>
              <a:rPr lang="id-ID" sz="1070">
                <a:solidFill>
                  <a:srgbClr val="243745"/>
                </a:solidFill>
                <a:latin typeface="Aptos" panose="020B0004020202020204" pitchFamily="34" charset="0"/>
              </a:rPr>
              <a:t>4. Analisis failure sebagai indikasi regresi logika.</a:t>
            </a:r>
          </a:p>
        </p:txBody>
      </p:sp>
      <p:sp>
        <p:nvSpPr>
          <p:cNvPr id="22" name="Rectangle: Rounded Corners 21">
            <a:extLst>
              <a:ext uri="{FF2B5EF4-FFF2-40B4-BE49-F238E27FC236}">
                <a16:creationId xmlns:a16="http://schemas.microsoft.com/office/drawing/2014/main" id="{B3ACD231-C2D6-25E4-69D2-B479D8E2DA02}"/>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4E7EA614-E3F8-2A90-9D36-4E3ACC004EE0}"/>
              </a:ext>
            </a:extLst>
          </p:cNvPr>
          <p:cNvSpPr/>
          <p:nvPr/>
        </p:nvSpPr>
        <p:spPr>
          <a:xfrm>
            <a:off x="7950200" y="2336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145E1B28-0A48-9F66-C7A2-95463DF84BB4}"/>
              </a:ext>
            </a:extLst>
          </p:cNvPr>
          <p:cNvSpPr txBox="1"/>
          <p:nvPr/>
        </p:nvSpPr>
        <p:spPr>
          <a:xfrm>
            <a:off x="79502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3B9186F5-33DC-0571-0B33-1505FD373FC0}"/>
              </a:ext>
            </a:extLst>
          </p:cNvPr>
          <p:cNvSpPr txBox="1"/>
          <p:nvPr/>
        </p:nvSpPr>
        <p:spPr>
          <a:xfrm>
            <a:off x="7950200" y="2844800"/>
            <a:ext cx="3429000" cy="864339"/>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developer utama.</a:t>
            </a:r>
          </a:p>
          <a:p>
            <a:r>
              <a:rPr lang="id-ID" sz="1070">
                <a:solidFill>
                  <a:srgbClr val="243745"/>
                </a:solidFill>
                <a:latin typeface="Aptos" panose="020B0004020202020204" pitchFamily="34" charset="0"/>
              </a:rPr>
              <a:t>- Opsional reviewer teknis bila ada.</a:t>
            </a:r>
          </a:p>
          <a:p>
            <a:r>
              <a:rPr lang="id-ID" sz="1070">
                <a:solidFill>
                  <a:srgbClr val="243745"/>
                </a:solidFill>
                <a:latin typeface="Aptos" panose="020B0004020202020204" pitchFamily="34" charset="0"/>
              </a:rPr>
              <a:t>- Tidak membutuhkan user bisnis untuk eksekusi.</a:t>
            </a:r>
          </a:p>
        </p:txBody>
      </p:sp>
      <p:sp>
        <p:nvSpPr>
          <p:cNvPr id="26" name="Rectangle: Rounded Corners 25">
            <a:extLst>
              <a:ext uri="{FF2B5EF4-FFF2-40B4-BE49-F238E27FC236}">
                <a16:creationId xmlns:a16="http://schemas.microsoft.com/office/drawing/2014/main" id="{13E55C17-C2A9-FA14-56AF-799F17C6109C}"/>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0FFF4011-1F9C-83B0-220E-D862E6291557}"/>
              </a:ext>
            </a:extLst>
          </p:cNvPr>
          <p:cNvSpPr/>
          <p:nvPr/>
        </p:nvSpPr>
        <p:spPr>
          <a:xfrm>
            <a:off x="3835400" y="45720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08EC4321-3DE1-DF82-79AB-A64B5FEC68CB}"/>
              </a:ext>
            </a:extLst>
          </p:cNvPr>
          <p:cNvSpPr txBox="1"/>
          <p:nvPr/>
        </p:nvSpPr>
        <p:spPr>
          <a:xfrm>
            <a:off x="3835400" y="4699000"/>
            <a:ext cx="7543800" cy="216085"/>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B18016E9-A285-75C1-64A9-C45D06C90074}"/>
              </a:ext>
            </a:extLst>
          </p:cNvPr>
          <p:cNvSpPr txBox="1"/>
          <p:nvPr/>
        </p:nvSpPr>
        <p:spPr>
          <a:xfrm>
            <a:off x="3835400" y="5080000"/>
            <a:ext cx="7543800" cy="3117520"/>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File test otomatis.</a:t>
            </a:r>
          </a:p>
          <a:p>
            <a:r>
              <a:rPr lang="id-ID" sz="1020">
                <a:solidFill>
                  <a:srgbClr val="243745"/>
                </a:solidFill>
                <a:latin typeface="Aptos" panose="020B0004020202020204" pitchFamily="34" charset="0"/>
              </a:rPr>
              <a:t>- Hasil runner dan error log.</a:t>
            </a:r>
          </a:p>
          <a:p>
            <a:r>
              <a:rPr lang="id-ID" sz="1020">
                <a:solidFill>
                  <a:srgbClr val="243745"/>
                </a:solidFill>
                <a:latin typeface="Aptos" panose="020B0004020202020204" pitchFamily="34" charset="0"/>
              </a:rPr>
              <a:t>- Opsional ringkasan coverage.</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PHPUnit atau framework test lain.</a:t>
            </a:r>
          </a:p>
          <a:p>
            <a:r>
              <a:rPr lang="id-ID" sz="1020">
                <a:solidFill>
                  <a:srgbClr val="243745"/>
                </a:solidFill>
                <a:latin typeface="Aptos" panose="020B0004020202020204" pitchFamily="34" charset="0"/>
              </a:rPr>
              <a:t>- Composer environment yang siap.</a:t>
            </a:r>
          </a:p>
          <a:p>
            <a:r>
              <a:rPr lang="id-ID" sz="1020">
                <a:solidFill>
                  <a:srgbClr val="243745"/>
                </a:solidFill>
                <a:latin typeface="Aptos" panose="020B0004020202020204" pitchFamily="34" charset="0"/>
              </a:rPr>
              <a:t>- Mock data atau test doubles bila perlu.</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Cocok untuk menambah nilai engineering, terutama pada DatasetImportService, GeoportalDatasetRegistry, atau FilteredMetadataExporter. Pada checkout ini, phpunit masih perlu disiapkan terlebih dahulu.</a:t>
            </a:r>
          </a:p>
        </p:txBody>
      </p:sp>
      <p:cxnSp>
        <p:nvCxnSpPr>
          <p:cNvPr id="30" name="Straight Connector 29">
            <a:extLst>
              <a:ext uri="{FF2B5EF4-FFF2-40B4-BE49-F238E27FC236}">
                <a16:creationId xmlns:a16="http://schemas.microsoft.com/office/drawing/2014/main" id="{E3E8B8CD-91BD-EF5E-C4C5-B9BDBE2503A0}"/>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2AAFFD72-3B06-8E4B-9122-8531CBC84E42}"/>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27FF6DFF-8AFB-92D6-00A2-92ABFBD6CA05}"/>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06</a:t>
            </a:r>
          </a:p>
        </p:txBody>
      </p:sp>
    </p:spTree>
    <p:extLst>
      <p:ext uri="{BB962C8B-B14F-4D97-AF65-F5344CB8AC3E}">
        <p14:creationId xmlns:p14="http://schemas.microsoft.com/office/powerpoint/2010/main" val="3096587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F2482A8-BC0E-4063-039D-7B310374923B}"/>
              </a:ext>
            </a:extLst>
          </p:cNvPr>
          <p:cNvSpPr/>
          <p:nvPr/>
        </p:nvSpPr>
        <p:spPr>
          <a:xfrm>
            <a:off x="0" y="0"/>
            <a:ext cx="32766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6EA0914E-452A-FC54-E03D-91F86999D8DE}"/>
              </a:ext>
            </a:extLst>
          </p:cNvPr>
          <p:cNvSpPr/>
          <p:nvPr/>
        </p:nvSpPr>
        <p:spPr>
          <a:xfrm>
            <a:off x="0" y="0"/>
            <a:ext cx="228600" cy="5715000"/>
          </a:xfrm>
          <a:prstGeom prst="rect">
            <a:avLst/>
          </a:prstGeom>
          <a:solidFill>
            <a:srgbClr val="A45B42">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5D11AC70-0A8E-7EFC-2257-8D25FE0A1492}"/>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A38E14A9-C78E-1CE9-75D2-F56AFDC773FA}"/>
              </a:ext>
            </a:extLst>
          </p:cNvPr>
          <p:cNvSpPr/>
          <p:nvPr/>
        </p:nvSpPr>
        <p:spPr>
          <a:xfrm>
            <a:off x="5969000" y="-1524000"/>
            <a:ext cx="4064000" cy="4064000"/>
          </a:xfrm>
          <a:prstGeom prst="ellipse">
            <a:avLst/>
          </a:prstGeom>
          <a:solidFill>
            <a:srgbClr val="A45B42">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7CA043F1-2AF6-210D-8DC4-93A24C74C6D3}"/>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48F53E0F-5A18-CC71-A4D7-EB78920025EA}"/>
              </a:ext>
            </a:extLst>
          </p:cNvPr>
          <p:cNvSpPr txBox="1"/>
          <p:nvPr/>
        </p:nvSpPr>
        <p:spPr>
          <a:xfrm>
            <a:off x="533400" y="685800"/>
            <a:ext cx="2032000" cy="216085"/>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03</a:t>
            </a:r>
          </a:p>
        </p:txBody>
      </p:sp>
      <p:sp>
        <p:nvSpPr>
          <p:cNvPr id="8" name="TextBox 7">
            <a:extLst>
              <a:ext uri="{FF2B5EF4-FFF2-40B4-BE49-F238E27FC236}">
                <a16:creationId xmlns:a16="http://schemas.microsoft.com/office/drawing/2014/main" id="{63CD9228-831E-5E04-1AB1-443C41544DDC}"/>
              </a:ext>
            </a:extLst>
          </p:cNvPr>
          <p:cNvSpPr txBox="1"/>
          <p:nvPr/>
        </p:nvSpPr>
        <p:spPr>
          <a:xfrm>
            <a:off x="533400" y="1803400"/>
            <a:ext cx="2260600" cy="216085"/>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Integration Testing</a:t>
            </a:r>
          </a:p>
        </p:txBody>
      </p:sp>
      <p:sp>
        <p:nvSpPr>
          <p:cNvPr id="9" name="TextBox 8">
            <a:extLst>
              <a:ext uri="{FF2B5EF4-FFF2-40B4-BE49-F238E27FC236}">
                <a16:creationId xmlns:a16="http://schemas.microsoft.com/office/drawing/2014/main" id="{02F3E37D-5098-729E-693F-389EC3CC0571}"/>
              </a:ext>
            </a:extLst>
          </p:cNvPr>
          <p:cNvSpPr txBox="1"/>
          <p:nvPr/>
        </p:nvSpPr>
        <p:spPr>
          <a:xfrm>
            <a:off x="533400" y="2870200"/>
            <a:ext cx="2159000" cy="648254"/>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Membuktikan data mengalir benar antar komponen sistem.</a:t>
            </a:r>
          </a:p>
        </p:txBody>
      </p:sp>
      <p:sp>
        <p:nvSpPr>
          <p:cNvPr id="10" name="Rectangle: Rounded Corners 9">
            <a:extLst>
              <a:ext uri="{FF2B5EF4-FFF2-40B4-BE49-F238E27FC236}">
                <a16:creationId xmlns:a16="http://schemas.microsoft.com/office/drawing/2014/main" id="{4FC5023D-0BFE-D52C-FC15-6D0050358B5D}"/>
              </a:ext>
            </a:extLst>
          </p:cNvPr>
          <p:cNvSpPr/>
          <p:nvPr/>
        </p:nvSpPr>
        <p:spPr>
          <a:xfrm>
            <a:off x="533400" y="4089400"/>
            <a:ext cx="2057400" cy="355600"/>
          </a:xfrm>
          <a:prstGeom prst="roundRect">
            <a:avLst>
              <a:gd name="adj" fmla="val 35000"/>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ECD95DFB-F5D5-1CA8-49D8-64427495E5A7}"/>
              </a:ext>
            </a:extLst>
          </p:cNvPr>
          <p:cNvSpPr txBox="1"/>
          <p:nvPr/>
        </p:nvSpPr>
        <p:spPr>
          <a:xfrm>
            <a:off x="685800" y="4165600"/>
            <a:ext cx="1752600" cy="432170"/>
          </a:xfrm>
          <a:prstGeom prst="rect">
            <a:avLst/>
          </a:prstGeom>
          <a:noFill/>
        </p:spPr>
        <p:txBody>
          <a:bodyPr vert="horz" wrap="square" lIns="0" tIns="0" rIns="0" bIns="0" rtlCol="0">
            <a:noAutofit/>
          </a:bodyPr>
          <a:lstStyle/>
          <a:p>
            <a:pPr algn="ctr"/>
            <a:r>
              <a:rPr lang="en-US" sz="900" b="1">
                <a:solidFill>
                  <a:srgbClr val="FFFCF8"/>
                </a:solidFill>
                <a:latin typeface="Aptos" panose="020B0004020202020204" pitchFamily="34" charset="0"/>
              </a:rPr>
              <a:t>MOST IMPORTANT FOR THIS GEOportal</a:t>
            </a:r>
            <a:endParaRPr lang="id-ID" sz="900" b="1">
              <a:solidFill>
                <a:srgbClr val="FFFCF8"/>
              </a:solidFill>
              <a:latin typeface="Aptos" panose="020B0004020202020204" pitchFamily="34" charset="0"/>
            </a:endParaRPr>
          </a:p>
        </p:txBody>
      </p:sp>
      <p:sp>
        <p:nvSpPr>
          <p:cNvPr id="12" name="TextBox 11">
            <a:extLst>
              <a:ext uri="{FF2B5EF4-FFF2-40B4-BE49-F238E27FC236}">
                <a16:creationId xmlns:a16="http://schemas.microsoft.com/office/drawing/2014/main" id="{6D34E877-1156-0A3D-2CEE-001609CF9CCE}"/>
              </a:ext>
            </a:extLst>
          </p:cNvPr>
          <p:cNvSpPr txBox="1"/>
          <p:nvPr/>
        </p:nvSpPr>
        <p:spPr>
          <a:xfrm>
            <a:off x="533400" y="4749800"/>
            <a:ext cx="2133600" cy="1080424"/>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7FD67B12-97EF-8D66-AED1-2974F546C783}"/>
              </a:ext>
            </a:extLst>
          </p:cNvPr>
          <p:cNvSpPr txBox="1"/>
          <p:nvPr/>
        </p:nvSpPr>
        <p:spPr>
          <a:xfrm>
            <a:off x="3708400" y="533400"/>
            <a:ext cx="1524000" cy="216085"/>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BB0C049A-399A-EEEB-B81D-D433D6E9172B}"/>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7D695B25-7449-B5B3-7911-0E4EDCDD391E}"/>
              </a:ext>
            </a:extLst>
          </p:cNvPr>
          <p:cNvSpPr/>
          <p:nvPr/>
        </p:nvSpPr>
        <p:spPr>
          <a:xfrm>
            <a:off x="3835400" y="939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E03B4749-FD49-E933-5185-859843BBA3DE}"/>
              </a:ext>
            </a:extLst>
          </p:cNvPr>
          <p:cNvSpPr txBox="1"/>
          <p:nvPr/>
        </p:nvSpPr>
        <p:spPr>
          <a:xfrm>
            <a:off x="3835400" y="1066800"/>
            <a:ext cx="75438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4058E42E-CF96-9EA0-C8AF-90E4008BA53C}"/>
              </a:ext>
            </a:extLst>
          </p:cNvPr>
          <p:cNvSpPr txBox="1"/>
          <p:nvPr/>
        </p:nvSpPr>
        <p:spPr>
          <a:xfrm>
            <a:off x="3835400" y="1447800"/>
            <a:ext cx="7543800" cy="648254"/>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Integration testing adalah pengujian yang memeriksa hubungan antar modul atau layer sistem, misalnya controller, service, database, PostGIS, dan antarmuka frontend, untuk memastikan data yang diproses tetap konsisten dari awal sampai akhir.</a:t>
            </a:r>
          </a:p>
        </p:txBody>
      </p:sp>
      <p:sp>
        <p:nvSpPr>
          <p:cNvPr id="18" name="Rectangle: Rounded Corners 17">
            <a:extLst>
              <a:ext uri="{FF2B5EF4-FFF2-40B4-BE49-F238E27FC236}">
                <a16:creationId xmlns:a16="http://schemas.microsoft.com/office/drawing/2014/main" id="{D92C79D0-52F0-8606-1F03-4C1693B1CFE0}"/>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76137C19-2311-7D7F-B688-40F03D446177}"/>
              </a:ext>
            </a:extLst>
          </p:cNvPr>
          <p:cNvSpPr/>
          <p:nvPr/>
        </p:nvSpPr>
        <p:spPr>
          <a:xfrm>
            <a:off x="3835400" y="2336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017B2FC0-E527-6872-341A-B50EBB743408}"/>
              </a:ext>
            </a:extLst>
          </p:cNvPr>
          <p:cNvSpPr txBox="1"/>
          <p:nvPr/>
        </p:nvSpPr>
        <p:spPr>
          <a:xfrm>
            <a:off x="38354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4F62D692-E161-6D98-B34B-DB5590EED618}"/>
              </a:ext>
            </a:extLst>
          </p:cNvPr>
          <p:cNvSpPr txBox="1"/>
          <p:nvPr/>
        </p:nvSpPr>
        <p:spPr>
          <a:xfrm>
            <a:off x="3835400" y="2844800"/>
            <a:ext cx="3429000" cy="1512594"/>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Siapkan paket impor dan lingkungan database yang valid.</a:t>
            </a:r>
          </a:p>
          <a:p>
            <a:r>
              <a:rPr lang="id-ID" sz="1070">
                <a:solidFill>
                  <a:srgbClr val="243745"/>
                </a:solidFill>
                <a:latin typeface="Aptos" panose="020B0004020202020204" pitchFamily="34" charset="0"/>
              </a:rPr>
              <a:t>2. Jalankan alur impor lewat UI atau CLI.</a:t>
            </a:r>
          </a:p>
          <a:p>
            <a:r>
              <a:rPr lang="id-ID" sz="1070">
                <a:solidFill>
                  <a:srgbClr val="243745"/>
                </a:solidFill>
                <a:latin typeface="Aptos" panose="020B0004020202020204" pitchFamily="34" charset="0"/>
              </a:rPr>
              <a:t>3. Verifikasi isi tabel, endpoint, dan hasil di WebMap atau katalog.</a:t>
            </a:r>
          </a:p>
          <a:p>
            <a:r>
              <a:rPr lang="id-ID" sz="1070">
                <a:solidFill>
                  <a:srgbClr val="243745"/>
                </a:solidFill>
                <a:latin typeface="Aptos" panose="020B0004020202020204" pitchFamily="34" charset="0"/>
              </a:rPr>
              <a:t>4. Bandingkan apakah output akhir sesuai dengan data sumber dan filter.</a:t>
            </a:r>
          </a:p>
        </p:txBody>
      </p:sp>
      <p:sp>
        <p:nvSpPr>
          <p:cNvPr id="22" name="Rectangle: Rounded Corners 21">
            <a:extLst>
              <a:ext uri="{FF2B5EF4-FFF2-40B4-BE49-F238E27FC236}">
                <a16:creationId xmlns:a16="http://schemas.microsoft.com/office/drawing/2014/main" id="{94DB7A1E-48A1-A721-4850-2490388765DC}"/>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C2027832-7BC5-210E-5D75-B4D5BBDF041E}"/>
              </a:ext>
            </a:extLst>
          </p:cNvPr>
          <p:cNvSpPr/>
          <p:nvPr/>
        </p:nvSpPr>
        <p:spPr>
          <a:xfrm>
            <a:off x="7950200" y="2336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E4031063-550F-B102-4A6D-055C1C1D7EE0}"/>
              </a:ext>
            </a:extLst>
          </p:cNvPr>
          <p:cNvSpPr txBox="1"/>
          <p:nvPr/>
        </p:nvSpPr>
        <p:spPr>
          <a:xfrm>
            <a:off x="79502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AA15E040-9F8A-6C50-D25B-97DEBFA37A95}"/>
              </a:ext>
            </a:extLst>
          </p:cNvPr>
          <p:cNvSpPr txBox="1"/>
          <p:nvPr/>
        </p:nvSpPr>
        <p:spPr>
          <a:xfrm>
            <a:off x="7950200" y="2844800"/>
            <a:ext cx="3429000" cy="864339"/>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Admin sistem atau akun admin uji.</a:t>
            </a:r>
          </a:p>
          <a:p>
            <a:r>
              <a:rPr lang="id-ID" sz="1070">
                <a:solidFill>
                  <a:srgbClr val="243745"/>
                </a:solidFill>
                <a:latin typeface="Aptos" panose="020B0004020202020204" pitchFamily="34" charset="0"/>
              </a:rPr>
              <a:t>- Opsional pihak teknis yang memahami database.</a:t>
            </a:r>
          </a:p>
        </p:txBody>
      </p:sp>
      <p:sp>
        <p:nvSpPr>
          <p:cNvPr id="26" name="Rectangle: Rounded Corners 25">
            <a:extLst>
              <a:ext uri="{FF2B5EF4-FFF2-40B4-BE49-F238E27FC236}">
                <a16:creationId xmlns:a16="http://schemas.microsoft.com/office/drawing/2014/main" id="{4940817E-F9C3-A95E-D24E-D7F3061A34EF}"/>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4B42003D-C70B-9B78-5AF2-3F9CD7AB4C1C}"/>
              </a:ext>
            </a:extLst>
          </p:cNvPr>
          <p:cNvSpPr/>
          <p:nvPr/>
        </p:nvSpPr>
        <p:spPr>
          <a:xfrm>
            <a:off x="3835400" y="45720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16775538-AF41-2B87-A076-AEE29AC0D686}"/>
              </a:ext>
            </a:extLst>
          </p:cNvPr>
          <p:cNvSpPr txBox="1"/>
          <p:nvPr/>
        </p:nvSpPr>
        <p:spPr>
          <a:xfrm>
            <a:off x="3835400" y="4699000"/>
            <a:ext cx="7543800" cy="216085"/>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F87F0EEE-27C5-3015-955F-55D4F7B65F84}"/>
              </a:ext>
            </a:extLst>
          </p:cNvPr>
          <p:cNvSpPr txBox="1"/>
          <p:nvPr/>
        </p:nvSpPr>
        <p:spPr>
          <a:xfrm>
            <a:off x="3835400" y="5080000"/>
            <a:ext cx="7543800" cy="2901435"/>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Output import CLI atau UI.</a:t>
            </a:r>
          </a:p>
          <a:p>
            <a:r>
              <a:rPr lang="id-ID" sz="1020">
                <a:solidFill>
                  <a:srgbClr val="243745"/>
                </a:solidFill>
                <a:latin typeface="Aptos" panose="020B0004020202020204" pitchFamily="34" charset="0"/>
              </a:rPr>
              <a:t>- Query validasi database.</a:t>
            </a:r>
          </a:p>
          <a:p>
            <a:r>
              <a:rPr lang="id-ID" sz="1020">
                <a:solidFill>
                  <a:srgbClr val="243745"/>
                </a:solidFill>
                <a:latin typeface="Aptos" panose="020B0004020202020204" pitchFamily="34" charset="0"/>
              </a:rPr>
              <a:t>- Screenshot katalog, WebMap, dan file hasil download.</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CLI php spark dataset:import.</a:t>
            </a:r>
          </a:p>
          <a:p>
            <a:r>
              <a:rPr lang="id-ID" sz="1020">
                <a:solidFill>
                  <a:srgbClr val="243745"/>
                </a:solidFill>
                <a:latin typeface="Aptos" panose="020B0004020202020204" pitchFamily="34" charset="0"/>
              </a:rPr>
              <a:t>- Query PostgreSQL atau pengecekan endpoint.</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Ini metode paling penting untuk geoportal karena risiko utama sistem ada pada alur package import -&gt; PostGIS -&gt; catalog -&gt; WebMap -&gt; download.</a:t>
            </a:r>
          </a:p>
        </p:txBody>
      </p:sp>
      <p:cxnSp>
        <p:nvCxnSpPr>
          <p:cNvPr id="30" name="Straight Connector 29">
            <a:extLst>
              <a:ext uri="{FF2B5EF4-FFF2-40B4-BE49-F238E27FC236}">
                <a16:creationId xmlns:a16="http://schemas.microsoft.com/office/drawing/2014/main" id="{858AED8D-63F4-8EF0-7A23-A2DA6C31143A}"/>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9A025C4-27D1-0C08-5ED7-4F8E5C8323B2}"/>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CCD38FC3-1278-C51B-CA16-A6B134FE7DD4}"/>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07</a:t>
            </a:r>
          </a:p>
        </p:txBody>
      </p:sp>
    </p:spTree>
    <p:extLst>
      <p:ext uri="{BB962C8B-B14F-4D97-AF65-F5344CB8AC3E}">
        <p14:creationId xmlns:p14="http://schemas.microsoft.com/office/powerpoint/2010/main" val="348501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1DA75C7-BB72-41D1-5EE9-5E19AF892C3E}"/>
              </a:ext>
            </a:extLst>
          </p:cNvPr>
          <p:cNvSpPr/>
          <p:nvPr/>
        </p:nvSpPr>
        <p:spPr>
          <a:xfrm>
            <a:off x="0" y="0"/>
            <a:ext cx="32766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2302482-DE09-3BB9-50A7-A5A9C6E38864}"/>
              </a:ext>
            </a:extLst>
          </p:cNvPr>
          <p:cNvSpPr/>
          <p:nvPr/>
        </p:nvSpPr>
        <p:spPr>
          <a:xfrm>
            <a:off x="0" y="0"/>
            <a:ext cx="228600" cy="5715000"/>
          </a:xfrm>
          <a:prstGeom prst="rect">
            <a:avLst/>
          </a:prstGeom>
          <a:solidFill>
            <a:srgbClr val="7A8450">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E0F04020-0DBB-A7CC-CFB3-7165F73D5590}"/>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4039A6D2-BC73-E53A-CCB0-50BCD62577A7}"/>
              </a:ext>
            </a:extLst>
          </p:cNvPr>
          <p:cNvSpPr/>
          <p:nvPr/>
        </p:nvSpPr>
        <p:spPr>
          <a:xfrm>
            <a:off x="5969000" y="-1524000"/>
            <a:ext cx="4064000" cy="4064000"/>
          </a:xfrm>
          <a:prstGeom prst="ellipse">
            <a:avLst/>
          </a:prstGeom>
          <a:solidFill>
            <a:srgbClr val="7A8450">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768E6043-78A1-527A-55C2-5F9BEDD9F2F0}"/>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B248FA98-5CF6-170E-2A31-0BD0E31D7E9D}"/>
              </a:ext>
            </a:extLst>
          </p:cNvPr>
          <p:cNvSpPr txBox="1"/>
          <p:nvPr/>
        </p:nvSpPr>
        <p:spPr>
          <a:xfrm>
            <a:off x="533400" y="685800"/>
            <a:ext cx="2032000" cy="216085"/>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04</a:t>
            </a:r>
          </a:p>
        </p:txBody>
      </p:sp>
      <p:sp>
        <p:nvSpPr>
          <p:cNvPr id="8" name="TextBox 7">
            <a:extLst>
              <a:ext uri="{FF2B5EF4-FFF2-40B4-BE49-F238E27FC236}">
                <a16:creationId xmlns:a16="http://schemas.microsoft.com/office/drawing/2014/main" id="{913CF2B7-0EA8-E555-9BC0-1448328C58F5}"/>
              </a:ext>
            </a:extLst>
          </p:cNvPr>
          <p:cNvSpPr txBox="1"/>
          <p:nvPr/>
        </p:nvSpPr>
        <p:spPr>
          <a:xfrm>
            <a:off x="533400" y="1803400"/>
            <a:ext cx="2260600" cy="216085"/>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System / End-to-End Testing</a:t>
            </a:r>
          </a:p>
        </p:txBody>
      </p:sp>
      <p:sp>
        <p:nvSpPr>
          <p:cNvPr id="9" name="TextBox 8">
            <a:extLst>
              <a:ext uri="{FF2B5EF4-FFF2-40B4-BE49-F238E27FC236}">
                <a16:creationId xmlns:a16="http://schemas.microsoft.com/office/drawing/2014/main" id="{43784053-EE4C-3273-A026-026A7AD91770}"/>
              </a:ext>
            </a:extLst>
          </p:cNvPr>
          <p:cNvSpPr txBox="1"/>
          <p:nvPr/>
        </p:nvSpPr>
        <p:spPr>
          <a:xfrm>
            <a:off x="533400" y="2870200"/>
            <a:ext cx="2159000" cy="648254"/>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Menguji satu perjalanan pengguna secara utuh dari awal sampai akhir.</a:t>
            </a:r>
          </a:p>
        </p:txBody>
      </p:sp>
      <p:sp>
        <p:nvSpPr>
          <p:cNvPr id="10" name="Rectangle: Rounded Corners 9">
            <a:extLst>
              <a:ext uri="{FF2B5EF4-FFF2-40B4-BE49-F238E27FC236}">
                <a16:creationId xmlns:a16="http://schemas.microsoft.com/office/drawing/2014/main" id="{26C3EE38-7C54-0C2C-8122-2C913D781427}"/>
              </a:ext>
            </a:extLst>
          </p:cNvPr>
          <p:cNvSpPr/>
          <p:nvPr/>
        </p:nvSpPr>
        <p:spPr>
          <a:xfrm>
            <a:off x="533400" y="4089400"/>
            <a:ext cx="2057400" cy="355600"/>
          </a:xfrm>
          <a:prstGeom prst="roundRect">
            <a:avLst>
              <a:gd name="adj" fmla="val 35000"/>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9F711AFE-86A5-B449-F4EB-CBDF98CF4173}"/>
              </a:ext>
            </a:extLst>
          </p:cNvPr>
          <p:cNvSpPr txBox="1"/>
          <p:nvPr/>
        </p:nvSpPr>
        <p:spPr>
          <a:xfrm>
            <a:off x="685800" y="4165600"/>
            <a:ext cx="1752600" cy="432170"/>
          </a:xfrm>
          <a:prstGeom prst="rect">
            <a:avLst/>
          </a:prstGeom>
          <a:noFill/>
        </p:spPr>
        <p:txBody>
          <a:bodyPr vert="horz" wrap="square" lIns="0" tIns="0" rIns="0" bIns="0" rtlCol="0">
            <a:noAutofit/>
          </a:bodyPr>
          <a:lstStyle/>
          <a:p>
            <a:pPr algn="ctr"/>
            <a:r>
              <a:rPr lang="en-US" sz="900" b="1">
                <a:solidFill>
                  <a:srgbClr val="FFFCF8"/>
                </a:solidFill>
                <a:latin typeface="Aptos" panose="020B0004020202020204" pitchFamily="34" charset="0"/>
              </a:rPr>
              <a:t>GOOD FOR DEMO AND SIDANG</a:t>
            </a:r>
            <a:endParaRPr lang="id-ID" sz="900" b="1">
              <a:solidFill>
                <a:srgbClr val="FFFCF8"/>
              </a:solidFill>
              <a:latin typeface="Aptos" panose="020B0004020202020204" pitchFamily="34" charset="0"/>
            </a:endParaRPr>
          </a:p>
        </p:txBody>
      </p:sp>
      <p:sp>
        <p:nvSpPr>
          <p:cNvPr id="12" name="TextBox 11">
            <a:extLst>
              <a:ext uri="{FF2B5EF4-FFF2-40B4-BE49-F238E27FC236}">
                <a16:creationId xmlns:a16="http://schemas.microsoft.com/office/drawing/2014/main" id="{2B3AD107-FA59-295F-C667-D5757CC8733B}"/>
              </a:ext>
            </a:extLst>
          </p:cNvPr>
          <p:cNvSpPr txBox="1"/>
          <p:nvPr/>
        </p:nvSpPr>
        <p:spPr>
          <a:xfrm>
            <a:off x="533400" y="4749800"/>
            <a:ext cx="2133600" cy="1080424"/>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EF7EBF19-28DA-F82A-B0CC-B6DBC86E1DD7}"/>
              </a:ext>
            </a:extLst>
          </p:cNvPr>
          <p:cNvSpPr txBox="1"/>
          <p:nvPr/>
        </p:nvSpPr>
        <p:spPr>
          <a:xfrm>
            <a:off x="3708400" y="533400"/>
            <a:ext cx="1524000" cy="216085"/>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6A51F6A7-EDD1-CD96-9F8A-817F43AF25D4}"/>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12036ACB-5302-CBE7-10C6-AC980F6293A7}"/>
              </a:ext>
            </a:extLst>
          </p:cNvPr>
          <p:cNvSpPr/>
          <p:nvPr/>
        </p:nvSpPr>
        <p:spPr>
          <a:xfrm>
            <a:off x="3835400" y="939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F47A991B-ECA9-B5F6-EE55-3F12A1741994}"/>
              </a:ext>
            </a:extLst>
          </p:cNvPr>
          <p:cNvSpPr txBox="1"/>
          <p:nvPr/>
        </p:nvSpPr>
        <p:spPr>
          <a:xfrm>
            <a:off x="3835400" y="1066800"/>
            <a:ext cx="75438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637F30F4-8618-E9E3-09CD-508CA528E96B}"/>
              </a:ext>
            </a:extLst>
          </p:cNvPr>
          <p:cNvSpPr txBox="1"/>
          <p:nvPr/>
        </p:nvSpPr>
        <p:spPr>
          <a:xfrm>
            <a:off x="3835400" y="1447800"/>
            <a:ext cx="7543800" cy="648254"/>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System atau end-to-end testing adalah pengujian yang menjalankan satu alur penggunaan lengkap seolah-olah sistem sudah dipakai nyata, sehingga yang diuji bukan lagi satu fitur tunggal, tetapi keseluruhan perjalanan pengguna.</a:t>
            </a:r>
          </a:p>
        </p:txBody>
      </p:sp>
      <p:sp>
        <p:nvSpPr>
          <p:cNvPr id="18" name="Rectangle: Rounded Corners 17">
            <a:extLst>
              <a:ext uri="{FF2B5EF4-FFF2-40B4-BE49-F238E27FC236}">
                <a16:creationId xmlns:a16="http://schemas.microsoft.com/office/drawing/2014/main" id="{39B54BF7-2ECD-A282-6AF0-ED2C958A93BC}"/>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D9402E22-4BA3-4989-C5AC-C97A66B55E5C}"/>
              </a:ext>
            </a:extLst>
          </p:cNvPr>
          <p:cNvSpPr/>
          <p:nvPr/>
        </p:nvSpPr>
        <p:spPr>
          <a:xfrm>
            <a:off x="3835400" y="2336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BBC90406-EE55-D7B2-8AC0-193573811386}"/>
              </a:ext>
            </a:extLst>
          </p:cNvPr>
          <p:cNvSpPr txBox="1"/>
          <p:nvPr/>
        </p:nvSpPr>
        <p:spPr>
          <a:xfrm>
            <a:off x="38354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2C25BCF6-3690-F2D2-412A-809E2BB24485}"/>
              </a:ext>
            </a:extLst>
          </p:cNvPr>
          <p:cNvSpPr txBox="1"/>
          <p:nvPr/>
        </p:nvSpPr>
        <p:spPr>
          <a:xfrm>
            <a:off x="3835400" y="2844800"/>
            <a:ext cx="3429000" cy="1944763"/>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Definisikan skenario bisnis lengkap yang ingin dibuktikan.</a:t>
            </a:r>
          </a:p>
          <a:p>
            <a:r>
              <a:rPr lang="id-ID" sz="1070">
                <a:solidFill>
                  <a:srgbClr val="243745"/>
                </a:solidFill>
                <a:latin typeface="Aptos" panose="020B0004020202020204" pitchFamily="34" charset="0"/>
              </a:rPr>
              <a:t>2. Jalankan seluruh langkah tanpa memotong proses menjadi bagian kecil.</a:t>
            </a:r>
          </a:p>
          <a:p>
            <a:r>
              <a:rPr lang="id-ID" sz="1070">
                <a:solidFill>
                  <a:srgbClr val="243745"/>
                </a:solidFill>
                <a:latin typeface="Aptos" panose="020B0004020202020204" pitchFamily="34" charset="0"/>
              </a:rPr>
              <a:t>3. Pastikan hasil akhir tercapai, misalnya data berhasil diimpor lalu bisa ditampilkan dan diunduh.</a:t>
            </a:r>
          </a:p>
          <a:p>
            <a:r>
              <a:rPr lang="id-ID" sz="1070">
                <a:solidFill>
                  <a:srgbClr val="243745"/>
                </a:solidFill>
                <a:latin typeface="Aptos" panose="020B0004020202020204" pitchFamily="34" charset="0"/>
              </a:rPr>
              <a:t>4. Catat titik hambatan yang muncul selama perjalanan.</a:t>
            </a:r>
          </a:p>
        </p:txBody>
      </p:sp>
      <p:sp>
        <p:nvSpPr>
          <p:cNvPr id="22" name="Rectangle: Rounded Corners 21">
            <a:extLst>
              <a:ext uri="{FF2B5EF4-FFF2-40B4-BE49-F238E27FC236}">
                <a16:creationId xmlns:a16="http://schemas.microsoft.com/office/drawing/2014/main" id="{2DF35C20-D58D-A7FE-6AE9-FDB47F372DCB}"/>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F4D8CBA7-9F08-5A42-3748-2900740896EF}"/>
              </a:ext>
            </a:extLst>
          </p:cNvPr>
          <p:cNvSpPr/>
          <p:nvPr/>
        </p:nvSpPr>
        <p:spPr>
          <a:xfrm>
            <a:off x="7950200" y="2336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E38C0BA2-9C9F-6615-D899-3F767479C19E}"/>
              </a:ext>
            </a:extLst>
          </p:cNvPr>
          <p:cNvSpPr txBox="1"/>
          <p:nvPr/>
        </p:nvSpPr>
        <p:spPr>
          <a:xfrm>
            <a:off x="79502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8213036C-1E18-10A9-AAC9-0F4D84E1D98B}"/>
              </a:ext>
            </a:extLst>
          </p:cNvPr>
          <p:cNvSpPr txBox="1"/>
          <p:nvPr/>
        </p:nvSpPr>
        <p:spPr>
          <a:xfrm>
            <a:off x="7950200" y="2844800"/>
            <a:ext cx="3429000" cy="864339"/>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Aktor uji seperti admin atau user.</a:t>
            </a:r>
          </a:p>
          <a:p>
            <a:r>
              <a:rPr lang="id-ID" sz="1070">
                <a:solidFill>
                  <a:srgbClr val="243745"/>
                </a:solidFill>
                <a:latin typeface="Aptos" panose="020B0004020202020204" pitchFamily="34" charset="0"/>
              </a:rPr>
              <a:t>- Sangat baik jika pembimbing ikut melihat sebagai observer.</a:t>
            </a:r>
          </a:p>
        </p:txBody>
      </p:sp>
      <p:sp>
        <p:nvSpPr>
          <p:cNvPr id="26" name="Rectangle: Rounded Corners 25">
            <a:extLst>
              <a:ext uri="{FF2B5EF4-FFF2-40B4-BE49-F238E27FC236}">
                <a16:creationId xmlns:a16="http://schemas.microsoft.com/office/drawing/2014/main" id="{F8CEC643-5155-225D-7A9A-0858F2B8EF77}"/>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B5DEB21C-71EB-4BEE-C0E1-D1BE68D84EA5}"/>
              </a:ext>
            </a:extLst>
          </p:cNvPr>
          <p:cNvSpPr/>
          <p:nvPr/>
        </p:nvSpPr>
        <p:spPr>
          <a:xfrm>
            <a:off x="3835400" y="45720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79BDA145-732A-B081-0210-53D8C9B77563}"/>
              </a:ext>
            </a:extLst>
          </p:cNvPr>
          <p:cNvSpPr txBox="1"/>
          <p:nvPr/>
        </p:nvSpPr>
        <p:spPr>
          <a:xfrm>
            <a:off x="3835400" y="4699000"/>
            <a:ext cx="7543800" cy="216085"/>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1073E3B2-3563-6EC1-7AF1-0E9FE9330EDE}"/>
              </a:ext>
            </a:extLst>
          </p:cNvPr>
          <p:cNvSpPr txBox="1"/>
          <p:nvPr/>
        </p:nvSpPr>
        <p:spPr>
          <a:xfrm>
            <a:off x="3835400" y="5080000"/>
            <a:ext cx="7543800" cy="2901435"/>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Narasi skenario end-to-end.</a:t>
            </a:r>
          </a:p>
          <a:p>
            <a:r>
              <a:rPr lang="id-ID" sz="1020">
                <a:solidFill>
                  <a:srgbClr val="243745"/>
                </a:solidFill>
                <a:latin typeface="Aptos" panose="020B0004020202020204" pitchFamily="34" charset="0"/>
              </a:rPr>
              <a:t>- Screenshot atau video demo.</a:t>
            </a:r>
          </a:p>
          <a:p>
            <a:r>
              <a:rPr lang="id-ID" sz="1020">
                <a:solidFill>
                  <a:srgbClr val="243745"/>
                </a:solidFill>
                <a:latin typeface="Aptos" panose="020B0004020202020204" pitchFamily="34" charset="0"/>
              </a:rPr>
              <a:t>- Catatan hambatan antar langkah.</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Akun admin dan user.</a:t>
            </a:r>
          </a:p>
          <a:p>
            <a:r>
              <a:rPr lang="id-ID" sz="1020">
                <a:solidFill>
                  <a:srgbClr val="243745"/>
                </a:solidFill>
                <a:latin typeface="Aptos" panose="020B0004020202020204" pitchFamily="34" charset="0"/>
              </a:rPr>
              <a:t>- Script demo atau catatan langkah presentasi.</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Paling cocok untuk membuktikan kesiapan sistem saat presentasi karena hasilnya mudah dipahami, misalnya admin login -&gt; import -&gt; buka WebMap -&gt; preview -&gt; unduh.</a:t>
            </a:r>
          </a:p>
        </p:txBody>
      </p:sp>
      <p:cxnSp>
        <p:nvCxnSpPr>
          <p:cNvPr id="30" name="Straight Connector 29">
            <a:extLst>
              <a:ext uri="{FF2B5EF4-FFF2-40B4-BE49-F238E27FC236}">
                <a16:creationId xmlns:a16="http://schemas.microsoft.com/office/drawing/2014/main" id="{D9934DD1-35F4-1863-AA84-C9C00AC39DBC}"/>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FFA27E84-CAC0-0F45-FDDA-6A4EB6117900}"/>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2B38A21F-B8B6-7440-3487-9CE58CC7A2A2}"/>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08</a:t>
            </a:r>
          </a:p>
        </p:txBody>
      </p:sp>
    </p:spTree>
    <p:extLst>
      <p:ext uri="{BB962C8B-B14F-4D97-AF65-F5344CB8AC3E}">
        <p14:creationId xmlns:p14="http://schemas.microsoft.com/office/powerpoint/2010/main" val="2439658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4B566C-9CDB-E1F4-ABF8-26CF676E01C7}"/>
              </a:ext>
            </a:extLst>
          </p:cNvPr>
          <p:cNvSpPr/>
          <p:nvPr/>
        </p:nvSpPr>
        <p:spPr>
          <a:xfrm>
            <a:off x="0" y="0"/>
            <a:ext cx="32766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E8B42773-76AA-5A7A-16A4-6F805BF49133}"/>
              </a:ext>
            </a:extLst>
          </p:cNvPr>
          <p:cNvSpPr/>
          <p:nvPr/>
        </p:nvSpPr>
        <p:spPr>
          <a:xfrm>
            <a:off x="0" y="0"/>
            <a:ext cx="228600" cy="5715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1015BE9F-9E39-F9AF-E8B5-A5F04A53D700}"/>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7EBA4B21-AD54-89BA-AEFD-94BF03EC2EBC}"/>
              </a:ext>
            </a:extLst>
          </p:cNvPr>
          <p:cNvSpPr/>
          <p:nvPr/>
        </p:nvSpPr>
        <p:spPr>
          <a:xfrm>
            <a:off x="5969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9424A4EC-6DD9-7EB8-E0B6-282364921296}"/>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4E6D38FE-5C46-44B2-FF2F-3C972591CE70}"/>
              </a:ext>
            </a:extLst>
          </p:cNvPr>
          <p:cNvSpPr txBox="1"/>
          <p:nvPr/>
        </p:nvSpPr>
        <p:spPr>
          <a:xfrm>
            <a:off x="533400" y="685800"/>
            <a:ext cx="2032000" cy="216085"/>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05</a:t>
            </a:r>
          </a:p>
        </p:txBody>
      </p:sp>
      <p:sp>
        <p:nvSpPr>
          <p:cNvPr id="8" name="TextBox 7">
            <a:extLst>
              <a:ext uri="{FF2B5EF4-FFF2-40B4-BE49-F238E27FC236}">
                <a16:creationId xmlns:a16="http://schemas.microsoft.com/office/drawing/2014/main" id="{CA6F0577-774A-6E34-78DC-8944031E5D0E}"/>
              </a:ext>
            </a:extLst>
          </p:cNvPr>
          <p:cNvSpPr txBox="1"/>
          <p:nvPr/>
        </p:nvSpPr>
        <p:spPr>
          <a:xfrm>
            <a:off x="533400" y="1803400"/>
            <a:ext cx="2260600" cy="216085"/>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User Acceptance Testing</a:t>
            </a:r>
          </a:p>
        </p:txBody>
      </p:sp>
      <p:sp>
        <p:nvSpPr>
          <p:cNvPr id="9" name="TextBox 8">
            <a:extLst>
              <a:ext uri="{FF2B5EF4-FFF2-40B4-BE49-F238E27FC236}">
                <a16:creationId xmlns:a16="http://schemas.microsoft.com/office/drawing/2014/main" id="{D1DA5BE8-6286-1663-ED5B-6BE89FC07C58}"/>
              </a:ext>
            </a:extLst>
          </p:cNvPr>
          <p:cNvSpPr txBox="1"/>
          <p:nvPr/>
        </p:nvSpPr>
        <p:spPr>
          <a:xfrm>
            <a:off x="533400" y="2870200"/>
            <a:ext cx="2159000" cy="648254"/>
          </a:xfrm>
          <a:prstGeom prst="rect">
            <a:avLst/>
          </a:prstGeom>
          <a:noFill/>
        </p:spPr>
        <p:txBody>
          <a:bodyPr vert="horz" wrap="square" lIns="0" tIns="0" rIns="0" bIns="0" rtlCol="0">
            <a:noAutofit/>
          </a:bodyPr>
          <a:lstStyle/>
          <a:p>
            <a:r>
              <a:rPr lang="fi-FI" sz="1200">
                <a:solidFill>
                  <a:srgbClr val="E9DED0"/>
                </a:solidFill>
                <a:latin typeface="Aptos" panose="020B0004020202020204" pitchFamily="34" charset="0"/>
              </a:rPr>
              <a:t>Memastikan aplikasi diterima oleh calon pengguna.</a:t>
            </a:r>
            <a:endParaRPr lang="id-ID" sz="1200">
              <a:solidFill>
                <a:srgbClr val="E9DED0"/>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958FBEB6-5959-4673-07B2-AB771C600440}"/>
              </a:ext>
            </a:extLst>
          </p:cNvPr>
          <p:cNvSpPr/>
          <p:nvPr/>
        </p:nvSpPr>
        <p:spPr>
          <a:xfrm>
            <a:off x="533400" y="4089400"/>
            <a:ext cx="2057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400CDCCD-6359-A156-EFCF-7E1785FC7A90}"/>
              </a:ext>
            </a:extLst>
          </p:cNvPr>
          <p:cNvSpPr txBox="1"/>
          <p:nvPr/>
        </p:nvSpPr>
        <p:spPr>
          <a:xfrm>
            <a:off x="685800" y="4165600"/>
            <a:ext cx="1752600" cy="648254"/>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ESSENTIAL FOR CAPSTONE ARGUMENT</a:t>
            </a:r>
          </a:p>
        </p:txBody>
      </p:sp>
      <p:sp>
        <p:nvSpPr>
          <p:cNvPr id="12" name="TextBox 11">
            <a:extLst>
              <a:ext uri="{FF2B5EF4-FFF2-40B4-BE49-F238E27FC236}">
                <a16:creationId xmlns:a16="http://schemas.microsoft.com/office/drawing/2014/main" id="{00D15D54-7D9D-B40F-2607-DAB3F243987F}"/>
              </a:ext>
            </a:extLst>
          </p:cNvPr>
          <p:cNvSpPr txBox="1"/>
          <p:nvPr/>
        </p:nvSpPr>
        <p:spPr>
          <a:xfrm>
            <a:off x="533400" y="4749800"/>
            <a:ext cx="2133600" cy="1080424"/>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F975A8B7-2735-34AE-4918-233B330F0148}"/>
              </a:ext>
            </a:extLst>
          </p:cNvPr>
          <p:cNvSpPr txBox="1"/>
          <p:nvPr/>
        </p:nvSpPr>
        <p:spPr>
          <a:xfrm>
            <a:off x="3708400" y="533400"/>
            <a:ext cx="1524000" cy="216085"/>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2AB5FFA2-434F-8B4A-5B76-F5C618D5BFB7}"/>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D16C13B1-E3F1-90D5-FDF3-3B1937DFC8F2}"/>
              </a:ext>
            </a:extLst>
          </p:cNvPr>
          <p:cNvSpPr/>
          <p:nvPr/>
        </p:nvSpPr>
        <p:spPr>
          <a:xfrm>
            <a:off x="3835400" y="939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A124D1C8-AAB6-F342-6E23-C7151C5DF87B}"/>
              </a:ext>
            </a:extLst>
          </p:cNvPr>
          <p:cNvSpPr txBox="1"/>
          <p:nvPr/>
        </p:nvSpPr>
        <p:spPr>
          <a:xfrm>
            <a:off x="3835400" y="1066800"/>
            <a:ext cx="75438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76D40278-586D-DEAD-F871-703BBEF04DCE}"/>
              </a:ext>
            </a:extLst>
          </p:cNvPr>
          <p:cNvSpPr txBox="1"/>
          <p:nvPr/>
        </p:nvSpPr>
        <p:spPr>
          <a:xfrm>
            <a:off x="3835400" y="1447800"/>
            <a:ext cx="7543800" cy="648254"/>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User Acceptance Testing atau UAT adalah pengujian yang meminta calon pengguna atau evaluator mencoba sistem lalu menilai apakah fungsi, alur, dan tampilan aplikasi sudah sesuai dengan kebutuhan dan cukup mudah dipakai.</a:t>
            </a:r>
          </a:p>
        </p:txBody>
      </p:sp>
      <p:sp>
        <p:nvSpPr>
          <p:cNvPr id="18" name="Rectangle: Rounded Corners 17">
            <a:extLst>
              <a:ext uri="{FF2B5EF4-FFF2-40B4-BE49-F238E27FC236}">
                <a16:creationId xmlns:a16="http://schemas.microsoft.com/office/drawing/2014/main" id="{CB0F2C40-C4A0-3400-BF77-4DD380848B65}"/>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60D9DF5A-65C3-9C7E-1E12-162F34CD8527}"/>
              </a:ext>
            </a:extLst>
          </p:cNvPr>
          <p:cNvSpPr/>
          <p:nvPr/>
        </p:nvSpPr>
        <p:spPr>
          <a:xfrm>
            <a:off x="3835400" y="2336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76EE856C-1FBD-AC62-E64C-591B39928838}"/>
              </a:ext>
            </a:extLst>
          </p:cNvPr>
          <p:cNvSpPr txBox="1"/>
          <p:nvPr/>
        </p:nvSpPr>
        <p:spPr>
          <a:xfrm>
            <a:off x="38354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A0A171D7-11A1-C92B-DAB3-F9F387FAE5FF}"/>
              </a:ext>
            </a:extLst>
          </p:cNvPr>
          <p:cNvSpPr txBox="1"/>
          <p:nvPr/>
        </p:nvSpPr>
        <p:spPr>
          <a:xfrm>
            <a:off x="3835400" y="2844800"/>
            <a:ext cx="3429000" cy="1728678"/>
          </a:xfrm>
          <a:prstGeom prst="rect">
            <a:avLst/>
          </a:prstGeom>
          <a:noFill/>
        </p:spPr>
        <p:txBody>
          <a:bodyPr vert="horz" wrap="square" lIns="0" tIns="0" rIns="0" bIns="0" rtlCol="0">
            <a:noAutofit/>
          </a:bodyPr>
          <a:lstStyle/>
          <a:p>
            <a:r>
              <a:rPr lang="sv-SE" sz="1070">
                <a:solidFill>
                  <a:srgbClr val="243745"/>
                </a:solidFill>
                <a:latin typeface="Aptos" panose="020B0004020202020204" pitchFamily="34" charset="0"/>
              </a:rPr>
              <a:t>1. Tentukan evaluator yang mewakili calon pengguna.</a:t>
            </a:r>
          </a:p>
          <a:p>
            <a:r>
              <a:rPr lang="sv-SE" sz="1070">
                <a:solidFill>
                  <a:srgbClr val="243745"/>
                </a:solidFill>
                <a:latin typeface="Aptos" panose="020B0004020202020204" pitchFamily="34" charset="0"/>
              </a:rPr>
              <a:t>2. Siapkan skenario sederhana dan briefing singkat.</a:t>
            </a:r>
          </a:p>
          <a:p>
            <a:r>
              <a:rPr lang="sv-SE" sz="1070">
                <a:solidFill>
                  <a:srgbClr val="243745"/>
                </a:solidFill>
                <a:latin typeface="Aptos" panose="020B0004020202020204" pitchFamily="34" charset="0"/>
              </a:rPr>
              <a:t>3. Minta evaluator menjalankan tugas utama di sistem.</a:t>
            </a:r>
          </a:p>
          <a:p>
            <a:r>
              <a:rPr lang="sv-SE" sz="1070">
                <a:solidFill>
                  <a:srgbClr val="243745"/>
                </a:solidFill>
                <a:latin typeface="Aptos" panose="020B0004020202020204" pitchFamily="34" charset="0"/>
              </a:rPr>
              <a:t>4. Kumpulkan penilaian, komentar, dan saran perbaikan.</a:t>
            </a:r>
            <a:endParaRPr lang="id-ID" sz="107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3D40F123-3B88-A9A6-825E-53B47B3E93DC}"/>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BB4B54C3-AC53-04D0-CDD1-DB489691DF78}"/>
              </a:ext>
            </a:extLst>
          </p:cNvPr>
          <p:cNvSpPr/>
          <p:nvPr/>
        </p:nvSpPr>
        <p:spPr>
          <a:xfrm>
            <a:off x="7950200" y="2336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8B4DAC2D-7329-00F6-6438-89731F58FA33}"/>
              </a:ext>
            </a:extLst>
          </p:cNvPr>
          <p:cNvSpPr txBox="1"/>
          <p:nvPr/>
        </p:nvSpPr>
        <p:spPr>
          <a:xfrm>
            <a:off x="79502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E9B01365-B0CC-A898-6DFF-90A826461C8A}"/>
              </a:ext>
            </a:extLst>
          </p:cNvPr>
          <p:cNvSpPr txBox="1"/>
          <p:nvPr/>
        </p:nvSpPr>
        <p:spPr>
          <a:xfrm>
            <a:off x="7950200" y="2844800"/>
            <a:ext cx="3429000" cy="864339"/>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Calon admin data.</a:t>
            </a:r>
          </a:p>
          <a:p>
            <a:r>
              <a:rPr lang="id-ID" sz="1070">
                <a:solidFill>
                  <a:srgbClr val="243745"/>
                </a:solidFill>
                <a:latin typeface="Aptos" panose="020B0004020202020204" pitchFamily="34" charset="0"/>
              </a:rPr>
              <a:t>- Calon user non-admin.</a:t>
            </a:r>
          </a:p>
          <a:p>
            <a:r>
              <a:rPr lang="id-ID" sz="1070">
                <a:solidFill>
                  <a:srgbClr val="243745"/>
                </a:solidFill>
                <a:latin typeface="Aptos" panose="020B0004020202020204" pitchFamily="34" charset="0"/>
              </a:rPr>
              <a:t>- Pembimbing atau penguji bisa dilibatkan sebagai evaluator.</a:t>
            </a:r>
          </a:p>
        </p:txBody>
      </p:sp>
      <p:sp>
        <p:nvSpPr>
          <p:cNvPr id="26" name="Rectangle: Rounded Corners 25">
            <a:extLst>
              <a:ext uri="{FF2B5EF4-FFF2-40B4-BE49-F238E27FC236}">
                <a16:creationId xmlns:a16="http://schemas.microsoft.com/office/drawing/2014/main" id="{F077E9DA-D597-AF10-9BD4-801DB5AFC833}"/>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816202F0-3002-C86A-37DE-62B9EECAC6DF}"/>
              </a:ext>
            </a:extLst>
          </p:cNvPr>
          <p:cNvSpPr/>
          <p:nvPr/>
        </p:nvSpPr>
        <p:spPr>
          <a:xfrm>
            <a:off x="3835400" y="4572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5F52251C-7D5B-D486-5E9B-F410B0799B83}"/>
              </a:ext>
            </a:extLst>
          </p:cNvPr>
          <p:cNvSpPr txBox="1"/>
          <p:nvPr/>
        </p:nvSpPr>
        <p:spPr>
          <a:xfrm>
            <a:off x="3835400" y="4699000"/>
            <a:ext cx="7543800" cy="216085"/>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52556292-7D40-22F6-D2D6-1A7EAC07AC5E}"/>
              </a:ext>
            </a:extLst>
          </p:cNvPr>
          <p:cNvSpPr txBox="1"/>
          <p:nvPr/>
        </p:nvSpPr>
        <p:spPr>
          <a:xfrm>
            <a:off x="3835400" y="5080000"/>
            <a:ext cx="7543800" cy="2901435"/>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Form UAT yang terisi.</a:t>
            </a:r>
          </a:p>
          <a:p>
            <a:r>
              <a:rPr lang="id-ID" sz="1020">
                <a:solidFill>
                  <a:srgbClr val="243745"/>
                </a:solidFill>
                <a:latin typeface="Aptos" panose="020B0004020202020204" pitchFamily="34" charset="0"/>
              </a:rPr>
              <a:t>- Skor atau penilaian likert.</a:t>
            </a:r>
          </a:p>
          <a:p>
            <a:r>
              <a:rPr lang="id-ID" sz="1020">
                <a:solidFill>
                  <a:srgbClr val="243745"/>
                </a:solidFill>
                <a:latin typeface="Aptos" panose="020B0004020202020204" pitchFamily="34" charset="0"/>
              </a:rPr>
              <a:t>- Komentar kualitatif dari evaluator.</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Form UAT.</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Opsional spreadsheet rekap hasil.</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Paling tepat dilakukan setelah fitur inti stabil, sehingga penilaian pengguna berfokus pada penerimaan sistem, bukan bug dasar yang belum selesai.</a:t>
            </a:r>
          </a:p>
        </p:txBody>
      </p:sp>
      <p:cxnSp>
        <p:nvCxnSpPr>
          <p:cNvPr id="30" name="Straight Connector 29">
            <a:extLst>
              <a:ext uri="{FF2B5EF4-FFF2-40B4-BE49-F238E27FC236}">
                <a16:creationId xmlns:a16="http://schemas.microsoft.com/office/drawing/2014/main" id="{A3EEDE48-D415-1EEC-0886-3C1B4E47790D}"/>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7F51A4B-64CC-E097-D0F9-556533CC4A16}"/>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59C01508-D523-082C-033B-FBB5532738EE}"/>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09</a:t>
            </a:r>
          </a:p>
        </p:txBody>
      </p:sp>
    </p:spTree>
    <p:extLst>
      <p:ext uri="{BB962C8B-B14F-4D97-AF65-F5344CB8AC3E}">
        <p14:creationId xmlns:p14="http://schemas.microsoft.com/office/powerpoint/2010/main" val="2726970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AF2DD6-5620-EEE0-53AA-8F740E00BAA1}"/>
              </a:ext>
            </a:extLst>
          </p:cNvPr>
          <p:cNvSpPr/>
          <p:nvPr/>
        </p:nvSpPr>
        <p:spPr>
          <a:xfrm>
            <a:off x="0" y="0"/>
            <a:ext cx="32766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6AE6E728-4826-C0A5-3465-409B0C0095EF}"/>
              </a:ext>
            </a:extLst>
          </p:cNvPr>
          <p:cNvSpPr/>
          <p:nvPr/>
        </p:nvSpPr>
        <p:spPr>
          <a:xfrm>
            <a:off x="0" y="0"/>
            <a:ext cx="228600" cy="5715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155A66F8-89F3-92AC-4376-6748185BE533}"/>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DAE21666-1A6F-44ED-9CD4-2C72E27A622A}"/>
              </a:ext>
            </a:extLst>
          </p:cNvPr>
          <p:cNvSpPr/>
          <p:nvPr/>
        </p:nvSpPr>
        <p:spPr>
          <a:xfrm>
            <a:off x="5969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0285E49B-744E-5B16-B56F-486AF353904E}"/>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1DFA39ED-1D88-D75F-3AB7-5F004EA2B9E2}"/>
              </a:ext>
            </a:extLst>
          </p:cNvPr>
          <p:cNvSpPr txBox="1"/>
          <p:nvPr/>
        </p:nvSpPr>
        <p:spPr>
          <a:xfrm>
            <a:off x="533400" y="685800"/>
            <a:ext cx="2032000" cy="216085"/>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06</a:t>
            </a:r>
          </a:p>
        </p:txBody>
      </p:sp>
      <p:sp>
        <p:nvSpPr>
          <p:cNvPr id="8" name="TextBox 7">
            <a:extLst>
              <a:ext uri="{FF2B5EF4-FFF2-40B4-BE49-F238E27FC236}">
                <a16:creationId xmlns:a16="http://schemas.microsoft.com/office/drawing/2014/main" id="{F32F036E-446B-06FA-8F9A-187C195845D5}"/>
              </a:ext>
            </a:extLst>
          </p:cNvPr>
          <p:cNvSpPr txBox="1"/>
          <p:nvPr/>
        </p:nvSpPr>
        <p:spPr>
          <a:xfrm>
            <a:off x="533400" y="1803400"/>
            <a:ext cx="2260600" cy="216085"/>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Performance Smoke Testing</a:t>
            </a:r>
          </a:p>
        </p:txBody>
      </p:sp>
      <p:sp>
        <p:nvSpPr>
          <p:cNvPr id="9" name="TextBox 8">
            <a:extLst>
              <a:ext uri="{FF2B5EF4-FFF2-40B4-BE49-F238E27FC236}">
                <a16:creationId xmlns:a16="http://schemas.microsoft.com/office/drawing/2014/main" id="{BE59B042-B5FA-C081-4014-8000057685AD}"/>
              </a:ext>
            </a:extLst>
          </p:cNvPr>
          <p:cNvSpPr txBox="1"/>
          <p:nvPr/>
        </p:nvSpPr>
        <p:spPr>
          <a:xfrm>
            <a:off x="533400" y="2870200"/>
            <a:ext cx="2159000" cy="648254"/>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Mengukur respons dasar fungsi penting secara ringan.</a:t>
            </a:r>
          </a:p>
        </p:txBody>
      </p:sp>
      <p:sp>
        <p:nvSpPr>
          <p:cNvPr id="10" name="Rectangle: Rounded Corners 9">
            <a:extLst>
              <a:ext uri="{FF2B5EF4-FFF2-40B4-BE49-F238E27FC236}">
                <a16:creationId xmlns:a16="http://schemas.microsoft.com/office/drawing/2014/main" id="{0CFADB47-9770-7311-C29E-2FA84FBCBD54}"/>
              </a:ext>
            </a:extLst>
          </p:cNvPr>
          <p:cNvSpPr/>
          <p:nvPr/>
        </p:nvSpPr>
        <p:spPr>
          <a:xfrm>
            <a:off x="533400" y="4089400"/>
            <a:ext cx="2057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7D302407-DC4C-7372-D9A2-A8C46CA784F1}"/>
              </a:ext>
            </a:extLst>
          </p:cNvPr>
          <p:cNvSpPr txBox="1"/>
          <p:nvPr/>
        </p:nvSpPr>
        <p:spPr>
          <a:xfrm>
            <a:off x="685800" y="4165600"/>
            <a:ext cx="1752600" cy="432170"/>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SUPPORTING EVIDENCE</a:t>
            </a:r>
          </a:p>
        </p:txBody>
      </p:sp>
      <p:sp>
        <p:nvSpPr>
          <p:cNvPr id="12" name="TextBox 11">
            <a:extLst>
              <a:ext uri="{FF2B5EF4-FFF2-40B4-BE49-F238E27FC236}">
                <a16:creationId xmlns:a16="http://schemas.microsoft.com/office/drawing/2014/main" id="{13E6010A-1BCB-FDB8-9751-3FD8BF89908E}"/>
              </a:ext>
            </a:extLst>
          </p:cNvPr>
          <p:cNvSpPr txBox="1"/>
          <p:nvPr/>
        </p:nvSpPr>
        <p:spPr>
          <a:xfrm>
            <a:off x="533400" y="4749800"/>
            <a:ext cx="2133600" cy="1080424"/>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2743E292-F4AE-8CC3-04FA-F2982814DCD6}"/>
              </a:ext>
            </a:extLst>
          </p:cNvPr>
          <p:cNvSpPr txBox="1"/>
          <p:nvPr/>
        </p:nvSpPr>
        <p:spPr>
          <a:xfrm>
            <a:off x="3708400" y="533400"/>
            <a:ext cx="1524000" cy="216085"/>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E3BF4EBE-52AF-D53F-A502-48F8A558139F}"/>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6BAA3BF4-5AB4-ED2B-5EF5-84014135BAE7}"/>
              </a:ext>
            </a:extLst>
          </p:cNvPr>
          <p:cNvSpPr/>
          <p:nvPr/>
        </p:nvSpPr>
        <p:spPr>
          <a:xfrm>
            <a:off x="3835400" y="939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82522872-C959-9343-DD52-5B5BB98AC63A}"/>
              </a:ext>
            </a:extLst>
          </p:cNvPr>
          <p:cNvSpPr txBox="1"/>
          <p:nvPr/>
        </p:nvSpPr>
        <p:spPr>
          <a:xfrm>
            <a:off x="3835400" y="1066800"/>
            <a:ext cx="75438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DA3AF8F9-75E6-B557-F87C-5F9EC0CCF505}"/>
              </a:ext>
            </a:extLst>
          </p:cNvPr>
          <p:cNvSpPr txBox="1"/>
          <p:nvPr/>
        </p:nvSpPr>
        <p:spPr>
          <a:xfrm>
            <a:off x="3835400" y="1447800"/>
            <a:ext cx="7543800" cy="864339"/>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Performance smoke testing adalah pengukuran ringan terhadap waktu respons atau kecepatan eksekusi fungsi penting sistem tanpa membangun simulasi beban besar. Fokusnya adalah memastikan performa dasar masih masuk akal untuk kebutuhan presentasi dan penggunaan awal.</a:t>
            </a:r>
          </a:p>
        </p:txBody>
      </p:sp>
      <p:sp>
        <p:nvSpPr>
          <p:cNvPr id="18" name="Rectangle: Rounded Corners 17">
            <a:extLst>
              <a:ext uri="{FF2B5EF4-FFF2-40B4-BE49-F238E27FC236}">
                <a16:creationId xmlns:a16="http://schemas.microsoft.com/office/drawing/2014/main" id="{5DCD842D-7F2D-94BC-052F-72F72FF5BD33}"/>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4315D057-72E8-28D8-E2EE-C79FB02F9029}"/>
              </a:ext>
            </a:extLst>
          </p:cNvPr>
          <p:cNvSpPr/>
          <p:nvPr/>
        </p:nvSpPr>
        <p:spPr>
          <a:xfrm>
            <a:off x="3835400" y="2336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DA5BF1CC-0CE6-7899-891A-5DF399437796}"/>
              </a:ext>
            </a:extLst>
          </p:cNvPr>
          <p:cNvSpPr txBox="1"/>
          <p:nvPr/>
        </p:nvSpPr>
        <p:spPr>
          <a:xfrm>
            <a:off x="38354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459D90FA-10A2-75AB-E391-989AE55D9A74}"/>
              </a:ext>
            </a:extLst>
          </p:cNvPr>
          <p:cNvSpPr txBox="1"/>
          <p:nvPr/>
        </p:nvSpPr>
        <p:spPr>
          <a:xfrm>
            <a:off x="3835400" y="2844800"/>
            <a:ext cx="3429000" cy="1512594"/>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Pilih fitur yang sensitif terhadap performa.</a:t>
            </a:r>
          </a:p>
          <a:p>
            <a:r>
              <a:rPr lang="id-ID" sz="1070">
                <a:solidFill>
                  <a:srgbClr val="243745"/>
                </a:solidFill>
                <a:latin typeface="Aptos" panose="020B0004020202020204" pitchFamily="34" charset="0"/>
              </a:rPr>
              <a:t>2. Tentukan indikator seperti waktu preview, waktu import, atau waktu download.</a:t>
            </a:r>
          </a:p>
          <a:p>
            <a:r>
              <a:rPr lang="id-ID" sz="1070">
                <a:solidFill>
                  <a:srgbClr val="243745"/>
                </a:solidFill>
                <a:latin typeface="Aptos" panose="020B0004020202020204" pitchFamily="34" charset="0"/>
              </a:rPr>
              <a:t>3. Jalankan pengukuran beberapa kali pada kondisi serupa.</a:t>
            </a:r>
          </a:p>
          <a:p>
            <a:r>
              <a:rPr lang="id-ID" sz="1070">
                <a:solidFill>
                  <a:srgbClr val="243745"/>
                </a:solidFill>
                <a:latin typeface="Aptos" panose="020B0004020202020204" pitchFamily="34" charset="0"/>
              </a:rPr>
              <a:t>4. Rekap hasil dan identifikasi bottleneck dasar.</a:t>
            </a:r>
          </a:p>
        </p:txBody>
      </p:sp>
      <p:sp>
        <p:nvSpPr>
          <p:cNvPr id="22" name="Rectangle: Rounded Corners 21">
            <a:extLst>
              <a:ext uri="{FF2B5EF4-FFF2-40B4-BE49-F238E27FC236}">
                <a16:creationId xmlns:a16="http://schemas.microsoft.com/office/drawing/2014/main" id="{39097FA6-BBC4-9766-9096-9B43FD5F7DB3}"/>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43EDC03D-9A53-B1AE-51A5-94E9D7A560E4}"/>
              </a:ext>
            </a:extLst>
          </p:cNvPr>
          <p:cNvSpPr/>
          <p:nvPr/>
        </p:nvSpPr>
        <p:spPr>
          <a:xfrm>
            <a:off x="7950200" y="2336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D449DE52-5DB7-1D88-844D-8AA47C958780}"/>
              </a:ext>
            </a:extLst>
          </p:cNvPr>
          <p:cNvSpPr txBox="1"/>
          <p:nvPr/>
        </p:nvSpPr>
        <p:spPr>
          <a:xfrm>
            <a:off x="79502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5B5CD602-D486-C79C-0DD6-AAB142521560}"/>
              </a:ext>
            </a:extLst>
          </p:cNvPr>
          <p:cNvSpPr txBox="1"/>
          <p:nvPr/>
        </p:nvSpPr>
        <p:spPr>
          <a:xfrm>
            <a:off x="7950200" y="2844800"/>
            <a:ext cx="3429000" cy="648254"/>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Opsional pihak teknis bila perlu verifikasi environment.</a:t>
            </a:r>
          </a:p>
        </p:txBody>
      </p:sp>
      <p:sp>
        <p:nvSpPr>
          <p:cNvPr id="26" name="Rectangle: Rounded Corners 25">
            <a:extLst>
              <a:ext uri="{FF2B5EF4-FFF2-40B4-BE49-F238E27FC236}">
                <a16:creationId xmlns:a16="http://schemas.microsoft.com/office/drawing/2014/main" id="{DA4D53CD-1952-71BD-0A82-44C23687E31E}"/>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BCAF9E52-F1C2-3D73-0A36-4714EB25687A}"/>
              </a:ext>
            </a:extLst>
          </p:cNvPr>
          <p:cNvSpPr/>
          <p:nvPr/>
        </p:nvSpPr>
        <p:spPr>
          <a:xfrm>
            <a:off x="3835400" y="45720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A8012F93-9153-757D-E180-F7105C5A93A1}"/>
              </a:ext>
            </a:extLst>
          </p:cNvPr>
          <p:cNvSpPr txBox="1"/>
          <p:nvPr/>
        </p:nvSpPr>
        <p:spPr>
          <a:xfrm>
            <a:off x="3835400" y="4699000"/>
            <a:ext cx="7543800" cy="216085"/>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C65CB128-A3DD-FBA1-AA0B-A3A6F6057A79}"/>
              </a:ext>
            </a:extLst>
          </p:cNvPr>
          <p:cNvSpPr txBox="1"/>
          <p:nvPr/>
        </p:nvSpPr>
        <p:spPr>
          <a:xfrm>
            <a:off x="3835400" y="5080000"/>
            <a:ext cx="7543800" cy="2901435"/>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Tabel response time.</a:t>
            </a:r>
          </a:p>
          <a:p>
            <a:r>
              <a:rPr lang="id-ID" sz="1020">
                <a:solidFill>
                  <a:srgbClr val="243745"/>
                </a:solidFill>
                <a:latin typeface="Aptos" panose="020B0004020202020204" pitchFamily="34" charset="0"/>
              </a:rPr>
              <a:t>- Catatan threshold sederhana.</a:t>
            </a:r>
          </a:p>
          <a:p>
            <a:r>
              <a:rPr lang="id-ID" sz="1020">
                <a:solidFill>
                  <a:srgbClr val="243745"/>
                </a:solidFill>
                <a:latin typeface="Aptos" panose="020B0004020202020204" pitchFamily="34" charset="0"/>
              </a:rPr>
              <a:t>- Temuan bottleneck yang paling menonjol.</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Stopwatch atau timing manual.</a:t>
            </a:r>
          </a:p>
          <a:p>
            <a:r>
              <a:rPr lang="id-ID" sz="1020">
                <a:solidFill>
                  <a:srgbClr val="243745"/>
                </a:solidFill>
                <a:latin typeface="Aptos" panose="020B0004020202020204" pitchFamily="34" charset="0"/>
              </a:rPr>
              <a:t>- Browser dev tools.</a:t>
            </a:r>
          </a:p>
          <a:p>
            <a:r>
              <a:rPr lang="id-ID" sz="1020">
                <a:solidFill>
                  <a:srgbClr val="243745"/>
                </a:solidFill>
                <a:latin typeface="Aptos" panose="020B0004020202020204" pitchFamily="34" charset="0"/>
              </a:rPr>
              <a:t>- CLI timing untuk import package.</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Cocok untuk fungsi preview WebMap, import package, download vector, dan download raster. Tidak perlu diperluas menjadi load test kecuali diminta pembimbing.</a:t>
            </a:r>
          </a:p>
        </p:txBody>
      </p:sp>
      <p:cxnSp>
        <p:nvCxnSpPr>
          <p:cNvPr id="30" name="Straight Connector 29">
            <a:extLst>
              <a:ext uri="{FF2B5EF4-FFF2-40B4-BE49-F238E27FC236}">
                <a16:creationId xmlns:a16="http://schemas.microsoft.com/office/drawing/2014/main" id="{18ABC035-28CF-9B4D-C948-A16CB96D1217}"/>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0259654-2453-6BEA-3EA0-5A6E083A1BF1}"/>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458AA003-B360-79B8-39F5-F1DB91AD7E64}"/>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10</a:t>
            </a:r>
          </a:p>
        </p:txBody>
      </p:sp>
    </p:spTree>
    <p:extLst>
      <p:ext uri="{BB962C8B-B14F-4D97-AF65-F5344CB8AC3E}">
        <p14:creationId xmlns:p14="http://schemas.microsoft.com/office/powerpoint/2010/main" val="578490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36E38C2-F02B-C83E-7997-5F52415E9E57}"/>
              </a:ext>
            </a:extLst>
          </p:cNvPr>
          <p:cNvSpPr/>
          <p:nvPr/>
        </p:nvSpPr>
        <p:spPr>
          <a:xfrm>
            <a:off x="0" y="0"/>
            <a:ext cx="32766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422B983-FF0A-2209-17F8-FE9BFB5D69F2}"/>
              </a:ext>
            </a:extLst>
          </p:cNvPr>
          <p:cNvSpPr/>
          <p:nvPr/>
        </p:nvSpPr>
        <p:spPr>
          <a:xfrm>
            <a:off x="0" y="0"/>
            <a:ext cx="228600" cy="5715000"/>
          </a:xfrm>
          <a:prstGeom prst="rect">
            <a:avLst/>
          </a:prstGeom>
          <a:solidFill>
            <a:srgbClr val="A45B42">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80EA0A97-B9C8-3E3B-44D7-951C84D47D06}"/>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37CD8D48-A5AE-9CCD-F5C4-959E0A4FC208}"/>
              </a:ext>
            </a:extLst>
          </p:cNvPr>
          <p:cNvSpPr/>
          <p:nvPr/>
        </p:nvSpPr>
        <p:spPr>
          <a:xfrm>
            <a:off x="5969000" y="-1524000"/>
            <a:ext cx="4064000" cy="4064000"/>
          </a:xfrm>
          <a:prstGeom prst="ellipse">
            <a:avLst/>
          </a:prstGeom>
          <a:solidFill>
            <a:srgbClr val="A45B42">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3F4D637B-F0D7-E569-C533-0E03E68EE14D}"/>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47DC5FF4-DE18-FD62-E30E-B4BA43B95B0A}"/>
              </a:ext>
            </a:extLst>
          </p:cNvPr>
          <p:cNvSpPr txBox="1"/>
          <p:nvPr/>
        </p:nvSpPr>
        <p:spPr>
          <a:xfrm>
            <a:off x="533400" y="685800"/>
            <a:ext cx="2032000" cy="216085"/>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07</a:t>
            </a:r>
          </a:p>
        </p:txBody>
      </p:sp>
      <p:sp>
        <p:nvSpPr>
          <p:cNvPr id="8" name="TextBox 7">
            <a:extLst>
              <a:ext uri="{FF2B5EF4-FFF2-40B4-BE49-F238E27FC236}">
                <a16:creationId xmlns:a16="http://schemas.microsoft.com/office/drawing/2014/main" id="{FE3EF0C8-D195-853B-86C6-4643728D4257}"/>
              </a:ext>
            </a:extLst>
          </p:cNvPr>
          <p:cNvSpPr txBox="1"/>
          <p:nvPr/>
        </p:nvSpPr>
        <p:spPr>
          <a:xfrm>
            <a:off x="533400" y="1803400"/>
            <a:ext cx="2260600" cy="216085"/>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Basic Security Testing</a:t>
            </a:r>
          </a:p>
        </p:txBody>
      </p:sp>
      <p:sp>
        <p:nvSpPr>
          <p:cNvPr id="9" name="TextBox 8">
            <a:extLst>
              <a:ext uri="{FF2B5EF4-FFF2-40B4-BE49-F238E27FC236}">
                <a16:creationId xmlns:a16="http://schemas.microsoft.com/office/drawing/2014/main" id="{64286013-CB27-5BD1-6CC7-57E1A667CBD1}"/>
              </a:ext>
            </a:extLst>
          </p:cNvPr>
          <p:cNvSpPr txBox="1"/>
          <p:nvPr/>
        </p:nvSpPr>
        <p:spPr>
          <a:xfrm>
            <a:off x="533400" y="2870200"/>
            <a:ext cx="2159000" cy="648254"/>
          </a:xfrm>
          <a:prstGeom prst="rect">
            <a:avLst/>
          </a:prstGeom>
          <a:noFill/>
        </p:spPr>
        <p:txBody>
          <a:bodyPr vert="horz" wrap="square" lIns="0" tIns="0" rIns="0" bIns="0" rtlCol="0">
            <a:noAutofit/>
          </a:bodyPr>
          <a:lstStyle/>
          <a:p>
            <a:r>
              <a:rPr lang="fi-FI" sz="1200">
                <a:solidFill>
                  <a:srgbClr val="E9DED0"/>
                </a:solidFill>
                <a:latin typeface="Aptos" panose="020B0004020202020204" pitchFamily="34" charset="0"/>
              </a:rPr>
              <a:t>Memeriksa akses, validasi input, dan penyalahgunaan alur.</a:t>
            </a:r>
            <a:endParaRPr lang="id-ID" sz="1200">
              <a:solidFill>
                <a:srgbClr val="E9DED0"/>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DF26BFFE-4AA4-FE30-F510-432615F3B5C0}"/>
              </a:ext>
            </a:extLst>
          </p:cNvPr>
          <p:cNvSpPr/>
          <p:nvPr/>
        </p:nvSpPr>
        <p:spPr>
          <a:xfrm>
            <a:off x="533400" y="4089400"/>
            <a:ext cx="2057400" cy="355600"/>
          </a:xfrm>
          <a:prstGeom prst="roundRect">
            <a:avLst>
              <a:gd name="adj" fmla="val 35000"/>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B4D97E02-668E-DA9C-58CC-0F2C7953B3AB}"/>
              </a:ext>
            </a:extLst>
          </p:cNvPr>
          <p:cNvSpPr txBox="1"/>
          <p:nvPr/>
        </p:nvSpPr>
        <p:spPr>
          <a:xfrm>
            <a:off x="685800" y="4165600"/>
            <a:ext cx="1752600" cy="432170"/>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RECOMMENDED BASIC CHECK</a:t>
            </a:r>
          </a:p>
        </p:txBody>
      </p:sp>
      <p:sp>
        <p:nvSpPr>
          <p:cNvPr id="12" name="TextBox 11">
            <a:extLst>
              <a:ext uri="{FF2B5EF4-FFF2-40B4-BE49-F238E27FC236}">
                <a16:creationId xmlns:a16="http://schemas.microsoft.com/office/drawing/2014/main" id="{526DC69C-3F4B-4BB8-E566-2C1455C9AC64}"/>
              </a:ext>
            </a:extLst>
          </p:cNvPr>
          <p:cNvSpPr txBox="1"/>
          <p:nvPr/>
        </p:nvSpPr>
        <p:spPr>
          <a:xfrm>
            <a:off x="533400" y="4749800"/>
            <a:ext cx="2133600" cy="1080424"/>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AA60D657-AE3A-4F50-D108-2866E45106F9}"/>
              </a:ext>
            </a:extLst>
          </p:cNvPr>
          <p:cNvSpPr txBox="1"/>
          <p:nvPr/>
        </p:nvSpPr>
        <p:spPr>
          <a:xfrm>
            <a:off x="3708400" y="533400"/>
            <a:ext cx="1524000" cy="216085"/>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1DD91708-72B6-F6BC-C3BA-B667CE0B82AD}"/>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F2CD9BDB-99D9-AA0B-1A03-31A0EF808988}"/>
              </a:ext>
            </a:extLst>
          </p:cNvPr>
          <p:cNvSpPr/>
          <p:nvPr/>
        </p:nvSpPr>
        <p:spPr>
          <a:xfrm>
            <a:off x="3835400" y="939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58695DC6-B57B-CFD7-9F59-09D85FFCA556}"/>
              </a:ext>
            </a:extLst>
          </p:cNvPr>
          <p:cNvSpPr txBox="1"/>
          <p:nvPr/>
        </p:nvSpPr>
        <p:spPr>
          <a:xfrm>
            <a:off x="3835400" y="1066800"/>
            <a:ext cx="75438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ADF409B4-7209-075F-6A73-F7446028CC01}"/>
              </a:ext>
            </a:extLst>
          </p:cNvPr>
          <p:cNvSpPr txBox="1"/>
          <p:nvPr/>
        </p:nvSpPr>
        <p:spPr>
          <a:xfrm>
            <a:off x="3835400" y="1447800"/>
            <a:ext cx="7543800" cy="648254"/>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Basic security testing adalah pengujian dasar yang fokus pada kontrol akses, validasi input, dan respons sistem terhadap parameter atau file yang tidak semestinya, tanpa harus masuk ke penetration testing penuh.</a:t>
            </a:r>
          </a:p>
        </p:txBody>
      </p:sp>
      <p:sp>
        <p:nvSpPr>
          <p:cNvPr id="18" name="Rectangle: Rounded Corners 17">
            <a:extLst>
              <a:ext uri="{FF2B5EF4-FFF2-40B4-BE49-F238E27FC236}">
                <a16:creationId xmlns:a16="http://schemas.microsoft.com/office/drawing/2014/main" id="{17348660-CA5A-7ED7-C72B-756C165423AB}"/>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ED3C0EE4-3025-70F1-D7CF-EFD830F5CF2B}"/>
              </a:ext>
            </a:extLst>
          </p:cNvPr>
          <p:cNvSpPr/>
          <p:nvPr/>
        </p:nvSpPr>
        <p:spPr>
          <a:xfrm>
            <a:off x="3835400" y="2336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74E1CB3D-0D51-32E6-4189-E7755D19832E}"/>
              </a:ext>
            </a:extLst>
          </p:cNvPr>
          <p:cNvSpPr txBox="1"/>
          <p:nvPr/>
        </p:nvSpPr>
        <p:spPr>
          <a:xfrm>
            <a:off x="38354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825ABC54-ABC8-8627-5DE7-BBB478EE43C8}"/>
              </a:ext>
            </a:extLst>
          </p:cNvPr>
          <p:cNvSpPr txBox="1"/>
          <p:nvPr/>
        </p:nvSpPr>
        <p:spPr>
          <a:xfrm>
            <a:off x="3835400" y="2844800"/>
            <a:ext cx="3429000" cy="1728678"/>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Petakan route dan fungsi yang sensitif seperti admin dan download.</a:t>
            </a:r>
          </a:p>
          <a:p>
            <a:r>
              <a:rPr lang="id-ID" sz="1070">
                <a:solidFill>
                  <a:srgbClr val="243745"/>
                </a:solidFill>
                <a:latin typeface="Aptos" panose="020B0004020202020204" pitchFamily="34" charset="0"/>
              </a:rPr>
              <a:t>2. Uji guest, user, dan admin pada route yang berbeda.</a:t>
            </a:r>
          </a:p>
          <a:p>
            <a:r>
              <a:rPr lang="id-ID" sz="1070">
                <a:solidFill>
                  <a:srgbClr val="243745"/>
                </a:solidFill>
                <a:latin typeface="Aptos" panose="020B0004020202020204" pitchFamily="34" charset="0"/>
              </a:rPr>
              <a:t>3. Uji input file atau parameter yang tidak valid.</a:t>
            </a:r>
          </a:p>
          <a:p>
            <a:r>
              <a:rPr lang="id-ID" sz="1070">
                <a:solidFill>
                  <a:srgbClr val="243745"/>
                </a:solidFill>
                <a:latin typeface="Aptos" panose="020B0004020202020204" pitchFamily="34" charset="0"/>
              </a:rPr>
              <a:t>4. Catat apakah sistem memblokir, mengarahkan, atau gagal dengan aman.</a:t>
            </a:r>
          </a:p>
        </p:txBody>
      </p:sp>
      <p:sp>
        <p:nvSpPr>
          <p:cNvPr id="22" name="Rectangle: Rounded Corners 21">
            <a:extLst>
              <a:ext uri="{FF2B5EF4-FFF2-40B4-BE49-F238E27FC236}">
                <a16:creationId xmlns:a16="http://schemas.microsoft.com/office/drawing/2014/main" id="{538EFE03-89D7-4B74-6FF5-54EFA31ACF2B}"/>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EF33EC05-2B55-D2FC-5CD0-FB37386B3EEF}"/>
              </a:ext>
            </a:extLst>
          </p:cNvPr>
          <p:cNvSpPr/>
          <p:nvPr/>
        </p:nvSpPr>
        <p:spPr>
          <a:xfrm>
            <a:off x="7950200" y="2336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642CA87C-41BA-183B-1964-607B4B329B3C}"/>
              </a:ext>
            </a:extLst>
          </p:cNvPr>
          <p:cNvSpPr txBox="1"/>
          <p:nvPr/>
        </p:nvSpPr>
        <p:spPr>
          <a:xfrm>
            <a:off x="7950200" y="2463800"/>
            <a:ext cx="342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C4033956-EDB0-778B-68D3-C37C6B9340E4}"/>
              </a:ext>
            </a:extLst>
          </p:cNvPr>
          <p:cNvSpPr txBox="1"/>
          <p:nvPr/>
        </p:nvSpPr>
        <p:spPr>
          <a:xfrm>
            <a:off x="7950200" y="2844800"/>
            <a:ext cx="3429000" cy="648254"/>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Akun guest, user, dan admin.</a:t>
            </a:r>
          </a:p>
          <a:p>
            <a:r>
              <a:rPr lang="id-ID" sz="1070">
                <a:solidFill>
                  <a:srgbClr val="243745"/>
                </a:solidFill>
                <a:latin typeface="Aptos" panose="020B0004020202020204" pitchFamily="34" charset="0"/>
              </a:rPr>
              <a:t>- Opsional reviewer teknis.</a:t>
            </a:r>
          </a:p>
        </p:txBody>
      </p:sp>
      <p:sp>
        <p:nvSpPr>
          <p:cNvPr id="26" name="Rectangle: Rounded Corners 25">
            <a:extLst>
              <a:ext uri="{FF2B5EF4-FFF2-40B4-BE49-F238E27FC236}">
                <a16:creationId xmlns:a16="http://schemas.microsoft.com/office/drawing/2014/main" id="{95FD08DB-120E-EA83-3F41-DFB0F70193A1}"/>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D4CC1575-A906-C46E-50D1-4831FDF59AFE}"/>
              </a:ext>
            </a:extLst>
          </p:cNvPr>
          <p:cNvSpPr/>
          <p:nvPr/>
        </p:nvSpPr>
        <p:spPr>
          <a:xfrm>
            <a:off x="3835400" y="45720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E48C994B-D3BB-9BEE-897E-5986BDD2745F}"/>
              </a:ext>
            </a:extLst>
          </p:cNvPr>
          <p:cNvSpPr txBox="1"/>
          <p:nvPr/>
        </p:nvSpPr>
        <p:spPr>
          <a:xfrm>
            <a:off x="3835400" y="4699000"/>
            <a:ext cx="7543800" cy="216085"/>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2DD05B01-65F3-B2C1-ABB9-325274F22275}"/>
              </a:ext>
            </a:extLst>
          </p:cNvPr>
          <p:cNvSpPr txBox="1"/>
          <p:nvPr/>
        </p:nvSpPr>
        <p:spPr>
          <a:xfrm>
            <a:off x="3835400" y="5080000"/>
            <a:ext cx="7543800" cy="2901435"/>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Daftar skenario akses tidak sah.</a:t>
            </a:r>
          </a:p>
          <a:p>
            <a:r>
              <a:rPr lang="id-ID" sz="1020">
                <a:solidFill>
                  <a:srgbClr val="243745"/>
                </a:solidFill>
                <a:latin typeface="Aptos" panose="020B0004020202020204" pitchFamily="34" charset="0"/>
              </a:rPr>
              <a:t>- Screenshot error handling.</a:t>
            </a:r>
          </a:p>
          <a:p>
            <a:r>
              <a:rPr lang="id-ID" sz="1020">
                <a:solidFill>
                  <a:srgbClr val="243745"/>
                </a:solidFill>
                <a:latin typeface="Aptos" panose="020B0004020202020204" pitchFamily="34" charset="0"/>
              </a:rPr>
              <a:t>- Rekomendasi perbaikan kontrol akses.</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Postman.</a:t>
            </a:r>
          </a:p>
          <a:p>
            <a:r>
              <a:rPr lang="id-ID" sz="1020">
                <a:solidFill>
                  <a:srgbClr val="243745"/>
                </a:solidFill>
                <a:latin typeface="Aptos" panose="020B0004020202020204" pitchFamily="34" charset="0"/>
              </a:rPr>
              <a:t>- Checklist route dan role.</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Penting untuk memastikan route admin, endpoint download, upload AOI, dan validasi parameter tidak mudah disalahgunakan. Ini cukup dibawa sebagai security baseline, bukan audit penuh.</a:t>
            </a:r>
          </a:p>
        </p:txBody>
      </p:sp>
      <p:cxnSp>
        <p:nvCxnSpPr>
          <p:cNvPr id="30" name="Straight Connector 29">
            <a:extLst>
              <a:ext uri="{FF2B5EF4-FFF2-40B4-BE49-F238E27FC236}">
                <a16:creationId xmlns:a16="http://schemas.microsoft.com/office/drawing/2014/main" id="{3F7C6C6C-F6E9-1D6D-1AFC-358584BCA5BC}"/>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D7E1B0D9-B6D4-3AE8-0361-B136CB88B8D9}"/>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330BC9BC-DD94-564A-000C-8D4262A9C3AB}"/>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11</a:t>
            </a:r>
          </a:p>
        </p:txBody>
      </p:sp>
    </p:spTree>
    <p:extLst>
      <p:ext uri="{BB962C8B-B14F-4D97-AF65-F5344CB8AC3E}">
        <p14:creationId xmlns:p14="http://schemas.microsoft.com/office/powerpoint/2010/main" val="2071449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FF59394-BCB6-FE65-BC8D-12EF24A162A5}"/>
              </a:ext>
            </a:extLst>
          </p:cNvPr>
          <p:cNvSpPr/>
          <p:nvPr/>
        </p:nvSpPr>
        <p:spPr>
          <a:xfrm>
            <a:off x="0" y="0"/>
            <a:ext cx="228600" cy="5715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74C29068-E74D-0351-B902-4467A6D50E6F}"/>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4BC6FECE-3059-46B4-24A0-10C36B23EFE4}"/>
              </a:ext>
            </a:extLst>
          </p:cNvPr>
          <p:cNvSpPr/>
          <p:nvPr/>
        </p:nvSpPr>
        <p:spPr>
          <a:xfrm>
            <a:off x="5969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E13A1A7E-4FD2-2337-555E-D1E36B8D3E16}"/>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B4C28EEA-4AE6-C8A5-FB53-2B3EE4D48344}"/>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9DF7E3F9-69A2-4DAF-5663-B3DC8EB76358}"/>
              </a:ext>
            </a:extLst>
          </p:cNvPr>
          <p:cNvSpPr txBox="1"/>
          <p:nvPr/>
        </p:nvSpPr>
        <p:spPr>
          <a:xfrm>
            <a:off x="736600" y="431800"/>
            <a:ext cx="1422400" cy="216085"/>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Recommendation</a:t>
            </a:r>
          </a:p>
        </p:txBody>
      </p:sp>
      <p:sp>
        <p:nvSpPr>
          <p:cNvPr id="8" name="TextBox 7">
            <a:extLst>
              <a:ext uri="{FF2B5EF4-FFF2-40B4-BE49-F238E27FC236}">
                <a16:creationId xmlns:a16="http://schemas.microsoft.com/office/drawing/2014/main" id="{0DFC9FEA-0EE4-E974-6DC3-B5DEFD4E68A8}"/>
              </a:ext>
            </a:extLst>
          </p:cNvPr>
          <p:cNvSpPr txBox="1"/>
          <p:nvPr/>
        </p:nvSpPr>
        <p:spPr>
          <a:xfrm>
            <a:off x="609600" y="863600"/>
            <a:ext cx="9779000" cy="216085"/>
          </a:xfrm>
          <a:prstGeom prst="rect">
            <a:avLst/>
          </a:prstGeom>
          <a:noFill/>
        </p:spPr>
        <p:txBody>
          <a:bodyPr vert="horz" wrap="square" lIns="0" tIns="0" rIns="0" bIns="0" rtlCol="0">
            <a:noAutofit/>
          </a:bodyPr>
          <a:lstStyle/>
          <a:p>
            <a:r>
              <a:rPr lang="nb-NO" sz="2600" b="1">
                <a:solidFill>
                  <a:srgbClr val="13293D"/>
                </a:solidFill>
                <a:latin typeface="Georgia" panose="02040502050405020303" pitchFamily="18" charset="0"/>
              </a:rPr>
              <a:t>Kombinasi metode terbaik untuk capstone ini</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F4EE08D5-129A-A178-53B6-6187E4AC221D}"/>
              </a:ext>
            </a:extLst>
          </p:cNvPr>
          <p:cNvSpPr txBox="1"/>
          <p:nvPr/>
        </p:nvSpPr>
        <p:spPr>
          <a:xfrm>
            <a:off x="609600" y="1371600"/>
            <a:ext cx="10414000" cy="216085"/>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Tujuannya adalah tetap kuat secara akademis, tetapi tidak terlalu berat untuk dijalankan dalam waktu capstone.</a:t>
            </a:r>
          </a:p>
        </p:txBody>
      </p:sp>
      <p:sp>
        <p:nvSpPr>
          <p:cNvPr id="10" name="Rectangle: Rounded Corners 9">
            <a:extLst>
              <a:ext uri="{FF2B5EF4-FFF2-40B4-BE49-F238E27FC236}">
                <a16:creationId xmlns:a16="http://schemas.microsoft.com/office/drawing/2014/main" id="{BEFADF3B-896C-957B-60CA-76056324F8AB}"/>
              </a:ext>
            </a:extLst>
          </p:cNvPr>
          <p:cNvSpPr/>
          <p:nvPr/>
        </p:nvSpPr>
        <p:spPr>
          <a:xfrm>
            <a:off x="609600" y="1981200"/>
            <a:ext cx="10972800" cy="1168400"/>
          </a:xfrm>
          <a:prstGeom prst="roundRect">
            <a:avLst>
              <a:gd name="adj" fmla="val 6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EDA5D863-C5D8-7897-8F15-6DB751797B3B}"/>
              </a:ext>
            </a:extLst>
          </p:cNvPr>
          <p:cNvSpPr txBox="1"/>
          <p:nvPr/>
        </p:nvSpPr>
        <p:spPr>
          <a:xfrm>
            <a:off x="965200" y="2362200"/>
            <a:ext cx="10287000" cy="216085"/>
          </a:xfrm>
          <a:prstGeom prst="rect">
            <a:avLst/>
          </a:prstGeom>
          <a:noFill/>
        </p:spPr>
        <p:txBody>
          <a:bodyPr vert="horz" wrap="square" lIns="0" tIns="0" rIns="0" bIns="0" rtlCol="0">
            <a:noAutofit/>
          </a:bodyPr>
          <a:lstStyle/>
          <a:p>
            <a:pPr algn="ctr"/>
            <a:r>
              <a:rPr lang="en-US" sz="2300" b="1">
                <a:solidFill>
                  <a:srgbClr val="FFFCF8"/>
                </a:solidFill>
                <a:latin typeface="Georgia" panose="02040502050405020303" pitchFamily="18" charset="0"/>
              </a:rPr>
              <a:t>Black-box Functional + Integration Testing + UAT + Performance Smoke</a:t>
            </a:r>
            <a:endParaRPr lang="id-ID" sz="2300" b="1">
              <a:solidFill>
                <a:srgbClr val="FFFCF8"/>
              </a:solidFill>
              <a:latin typeface="Georgia" panose="02040502050405020303" pitchFamily="18" charset="0"/>
            </a:endParaRPr>
          </a:p>
        </p:txBody>
      </p:sp>
      <p:sp>
        <p:nvSpPr>
          <p:cNvPr id="12" name="Rectangle: Rounded Corners 11">
            <a:extLst>
              <a:ext uri="{FF2B5EF4-FFF2-40B4-BE49-F238E27FC236}">
                <a16:creationId xmlns:a16="http://schemas.microsoft.com/office/drawing/2014/main" id="{B4189E8C-5E80-B168-69D0-A7AE81C8D620}"/>
              </a:ext>
            </a:extLst>
          </p:cNvPr>
          <p:cNvSpPr/>
          <p:nvPr/>
        </p:nvSpPr>
        <p:spPr>
          <a:xfrm>
            <a:off x="6096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E15B0BE-F3E7-13A4-BF57-9CC52FFBAED9}"/>
              </a:ext>
            </a:extLst>
          </p:cNvPr>
          <p:cNvSpPr/>
          <p:nvPr/>
        </p:nvSpPr>
        <p:spPr>
          <a:xfrm>
            <a:off x="812800" y="3759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Box 13">
            <a:extLst>
              <a:ext uri="{FF2B5EF4-FFF2-40B4-BE49-F238E27FC236}">
                <a16:creationId xmlns:a16="http://schemas.microsoft.com/office/drawing/2014/main" id="{B8CD441C-4542-B9E5-C926-94813BA0BB84}"/>
              </a:ext>
            </a:extLst>
          </p:cNvPr>
          <p:cNvSpPr txBox="1"/>
          <p:nvPr/>
        </p:nvSpPr>
        <p:spPr>
          <a:xfrm>
            <a:off x="812800" y="38862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Mengapa paling tepat</a:t>
            </a:r>
          </a:p>
        </p:txBody>
      </p:sp>
      <p:sp>
        <p:nvSpPr>
          <p:cNvPr id="15" name="TextBox 14">
            <a:extLst>
              <a:ext uri="{FF2B5EF4-FFF2-40B4-BE49-F238E27FC236}">
                <a16:creationId xmlns:a16="http://schemas.microsoft.com/office/drawing/2014/main" id="{510ADCF9-C204-7C58-99CD-590A003E02DE}"/>
              </a:ext>
            </a:extLst>
          </p:cNvPr>
          <p:cNvSpPr txBox="1"/>
          <p:nvPr/>
        </p:nvSpPr>
        <p:spPr>
          <a:xfrm>
            <a:off x="812800" y="4267200"/>
            <a:ext cx="3048000" cy="864339"/>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Kombinasi ini menutup tiga kebutuhan sekaligus: pembuktian fitur, pembuktian integrasi geoportal, dan pembuktian penerimaan pengguna.</a:t>
            </a:r>
          </a:p>
        </p:txBody>
      </p:sp>
      <p:sp>
        <p:nvSpPr>
          <p:cNvPr id="16" name="Rectangle: Rounded Corners 15">
            <a:extLst>
              <a:ext uri="{FF2B5EF4-FFF2-40B4-BE49-F238E27FC236}">
                <a16:creationId xmlns:a16="http://schemas.microsoft.com/office/drawing/2014/main" id="{0A262D28-59E3-EFD2-27D3-ED7B4D3672AA}"/>
              </a:ext>
            </a:extLst>
          </p:cNvPr>
          <p:cNvSpPr/>
          <p:nvPr/>
        </p:nvSpPr>
        <p:spPr>
          <a:xfrm>
            <a:off x="43688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a:extLst>
              <a:ext uri="{FF2B5EF4-FFF2-40B4-BE49-F238E27FC236}">
                <a16:creationId xmlns:a16="http://schemas.microsoft.com/office/drawing/2014/main" id="{4D189752-471B-93DC-3A81-66AD87AB7C18}"/>
              </a:ext>
            </a:extLst>
          </p:cNvPr>
          <p:cNvSpPr/>
          <p:nvPr/>
        </p:nvSpPr>
        <p:spPr>
          <a:xfrm>
            <a:off x="4572000" y="3759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TextBox 17">
            <a:extLst>
              <a:ext uri="{FF2B5EF4-FFF2-40B4-BE49-F238E27FC236}">
                <a16:creationId xmlns:a16="http://schemas.microsoft.com/office/drawing/2014/main" id="{2E712E69-105B-FFEE-E1EF-E94D40A6DC10}"/>
              </a:ext>
            </a:extLst>
          </p:cNvPr>
          <p:cNvSpPr txBox="1"/>
          <p:nvPr/>
        </p:nvSpPr>
        <p:spPr>
          <a:xfrm>
            <a:off x="4572000" y="38862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Kekuatan presentasi</a:t>
            </a:r>
          </a:p>
        </p:txBody>
      </p:sp>
      <p:sp>
        <p:nvSpPr>
          <p:cNvPr id="19" name="TextBox 18">
            <a:extLst>
              <a:ext uri="{FF2B5EF4-FFF2-40B4-BE49-F238E27FC236}">
                <a16:creationId xmlns:a16="http://schemas.microsoft.com/office/drawing/2014/main" id="{C035A13C-5818-6291-1E01-3EC06E899BED}"/>
              </a:ext>
            </a:extLst>
          </p:cNvPr>
          <p:cNvSpPr txBox="1"/>
          <p:nvPr/>
        </p:nvSpPr>
        <p:spPr>
          <a:xfrm>
            <a:off x="4572000" y="4267200"/>
            <a:ext cx="3048000" cy="864339"/>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Integration testing memberi kedalaman teknis, sementara UAT dan black-box membuat presentasi mudah dipahami pembimbing.</a:t>
            </a:r>
          </a:p>
        </p:txBody>
      </p:sp>
      <p:sp>
        <p:nvSpPr>
          <p:cNvPr id="20" name="Rectangle: Rounded Corners 19">
            <a:extLst>
              <a:ext uri="{FF2B5EF4-FFF2-40B4-BE49-F238E27FC236}">
                <a16:creationId xmlns:a16="http://schemas.microsoft.com/office/drawing/2014/main" id="{75E89F63-8897-5127-2E9A-1F3FF164BF73}"/>
              </a:ext>
            </a:extLst>
          </p:cNvPr>
          <p:cNvSpPr/>
          <p:nvPr/>
        </p:nvSpPr>
        <p:spPr>
          <a:xfrm>
            <a:off x="81280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a:extLst>
              <a:ext uri="{FF2B5EF4-FFF2-40B4-BE49-F238E27FC236}">
                <a16:creationId xmlns:a16="http://schemas.microsoft.com/office/drawing/2014/main" id="{D41343A0-D22E-56C9-5990-4F15130FC372}"/>
              </a:ext>
            </a:extLst>
          </p:cNvPr>
          <p:cNvSpPr/>
          <p:nvPr/>
        </p:nvSpPr>
        <p:spPr>
          <a:xfrm>
            <a:off x="8331200" y="3759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21">
            <a:extLst>
              <a:ext uri="{FF2B5EF4-FFF2-40B4-BE49-F238E27FC236}">
                <a16:creationId xmlns:a16="http://schemas.microsoft.com/office/drawing/2014/main" id="{4E665937-BB6D-1A9B-5891-1F10BCB8BCB2}"/>
              </a:ext>
            </a:extLst>
          </p:cNvPr>
          <p:cNvSpPr txBox="1"/>
          <p:nvPr/>
        </p:nvSpPr>
        <p:spPr>
          <a:xfrm>
            <a:off x="8331200" y="38862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Tambahan opsional</a:t>
            </a:r>
          </a:p>
        </p:txBody>
      </p:sp>
      <p:sp>
        <p:nvSpPr>
          <p:cNvPr id="23" name="TextBox 22">
            <a:extLst>
              <a:ext uri="{FF2B5EF4-FFF2-40B4-BE49-F238E27FC236}">
                <a16:creationId xmlns:a16="http://schemas.microsoft.com/office/drawing/2014/main" id="{A126EB69-F5AB-B366-D3C9-4EF033140CDA}"/>
              </a:ext>
            </a:extLst>
          </p:cNvPr>
          <p:cNvSpPr txBox="1"/>
          <p:nvPr/>
        </p:nvSpPr>
        <p:spPr>
          <a:xfrm>
            <a:off x="8331200" y="4267200"/>
            <a:ext cx="3048000" cy="864339"/>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Jika pembimbing meminta nilai engineering lebih jauh, tambahkan white-box atau API regression secara terbatas sebagai lampiran.</a:t>
            </a:r>
          </a:p>
        </p:txBody>
      </p:sp>
      <p:cxnSp>
        <p:nvCxnSpPr>
          <p:cNvPr id="24" name="Straight Connector 23">
            <a:extLst>
              <a:ext uri="{FF2B5EF4-FFF2-40B4-BE49-F238E27FC236}">
                <a16:creationId xmlns:a16="http://schemas.microsoft.com/office/drawing/2014/main" id="{A034A997-9D2E-59EC-07F7-7D30C937B3C1}"/>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943322A9-3AA9-FE6E-D170-C1EAF211C590}"/>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26" name="TextBox 25">
            <a:extLst>
              <a:ext uri="{FF2B5EF4-FFF2-40B4-BE49-F238E27FC236}">
                <a16:creationId xmlns:a16="http://schemas.microsoft.com/office/drawing/2014/main" id="{A21BF721-84C4-9893-2816-EBE3BC63E5D9}"/>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12</a:t>
            </a:r>
          </a:p>
        </p:txBody>
      </p:sp>
    </p:spTree>
    <p:extLst>
      <p:ext uri="{BB962C8B-B14F-4D97-AF65-F5344CB8AC3E}">
        <p14:creationId xmlns:p14="http://schemas.microsoft.com/office/powerpoint/2010/main" val="39716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AD0B34-107D-F125-0451-4998AA8B8114}"/>
              </a:ext>
            </a:extLst>
          </p:cNvPr>
          <p:cNvSpPr/>
          <p:nvPr/>
        </p:nvSpPr>
        <p:spPr>
          <a:xfrm>
            <a:off x="0" y="0"/>
            <a:ext cx="228600" cy="5715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A53177E8-A13C-AB38-A8AB-2F6256D23291}"/>
              </a:ext>
            </a:extLst>
          </p:cNvPr>
          <p:cNvSpPr/>
          <p:nvPr/>
        </p:nvSpPr>
        <p:spPr>
          <a:xfrm>
            <a:off x="-1397000" y="3429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C3554550-66DC-FC6C-AD23-ADF553091946}"/>
              </a:ext>
            </a:extLst>
          </p:cNvPr>
          <p:cNvSpPr/>
          <p:nvPr/>
        </p:nvSpPr>
        <p:spPr>
          <a:xfrm>
            <a:off x="5969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1192E933-A654-B234-BA7B-3B7F12036AF4}"/>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1DA49ECE-D9DE-C60D-24DE-766DCFC1F22A}"/>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D0B69E81-2D20-666B-B5A8-F3E4AE3DAC02}"/>
              </a:ext>
            </a:extLst>
          </p:cNvPr>
          <p:cNvSpPr txBox="1"/>
          <p:nvPr/>
        </p:nvSpPr>
        <p:spPr>
          <a:xfrm>
            <a:off x="736600" y="431800"/>
            <a:ext cx="1422400" cy="216085"/>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Execution Flow</a:t>
            </a:r>
          </a:p>
        </p:txBody>
      </p:sp>
      <p:sp>
        <p:nvSpPr>
          <p:cNvPr id="8" name="TextBox 7">
            <a:extLst>
              <a:ext uri="{FF2B5EF4-FFF2-40B4-BE49-F238E27FC236}">
                <a16:creationId xmlns:a16="http://schemas.microsoft.com/office/drawing/2014/main" id="{E529DEE5-5CB9-EC62-4F1F-54AEF891D882}"/>
              </a:ext>
            </a:extLst>
          </p:cNvPr>
          <p:cNvSpPr txBox="1"/>
          <p:nvPr/>
        </p:nvSpPr>
        <p:spPr>
          <a:xfrm>
            <a:off x="609600" y="863600"/>
            <a:ext cx="9779000" cy="216085"/>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Alur pengujian dari awal sampai akhir</a:t>
            </a:r>
          </a:p>
        </p:txBody>
      </p:sp>
      <p:sp>
        <p:nvSpPr>
          <p:cNvPr id="9" name="TextBox 8">
            <a:extLst>
              <a:ext uri="{FF2B5EF4-FFF2-40B4-BE49-F238E27FC236}">
                <a16:creationId xmlns:a16="http://schemas.microsoft.com/office/drawing/2014/main" id="{FB88406A-083F-2938-A9E7-501D74371AB0}"/>
              </a:ext>
            </a:extLst>
          </p:cNvPr>
          <p:cNvSpPr txBox="1"/>
          <p:nvPr/>
        </p:nvSpPr>
        <p:spPr>
          <a:xfrm>
            <a:off x="609600" y="1371600"/>
            <a:ext cx="10414000" cy="216085"/>
          </a:xfrm>
          <a:prstGeom prst="rect">
            <a:avLst/>
          </a:prstGeom>
          <a:noFill/>
        </p:spPr>
        <p:txBody>
          <a:bodyPr vert="horz" wrap="square" lIns="0" tIns="0" rIns="0" bIns="0" rtlCol="0">
            <a:noAutofit/>
          </a:bodyPr>
          <a:lstStyle/>
          <a:p>
            <a:r>
              <a:rPr lang="sv-SE" sz="1250">
                <a:solidFill>
                  <a:srgbClr val="65727D"/>
                </a:solidFill>
                <a:latin typeface="Aptos" panose="020B0004020202020204" pitchFamily="34" charset="0"/>
              </a:rPr>
              <a:t>Urutan ini bisa langsung dipakai sebagai struktur bab pengujian di laporan.</a:t>
            </a:r>
            <a:endParaRPr lang="id-ID" sz="1250">
              <a:solidFill>
                <a:srgbClr val="65727D"/>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265ED554-AE4D-AEEE-EE85-E83CEE90BF44}"/>
              </a:ext>
            </a:extLst>
          </p:cNvPr>
          <p:cNvSpPr/>
          <p:nvPr/>
        </p:nvSpPr>
        <p:spPr>
          <a:xfrm>
            <a:off x="609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C79B8D56-E1B1-EAED-C6DB-9D0DE21F7054}"/>
              </a:ext>
            </a:extLst>
          </p:cNvPr>
          <p:cNvSpPr/>
          <p:nvPr/>
        </p:nvSpPr>
        <p:spPr>
          <a:xfrm>
            <a:off x="812800" y="2235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82932B69-AD47-6DC9-1745-C35047725F5D}"/>
              </a:ext>
            </a:extLst>
          </p:cNvPr>
          <p:cNvSpPr txBox="1"/>
          <p:nvPr/>
        </p:nvSpPr>
        <p:spPr>
          <a:xfrm>
            <a:off x="812800" y="23622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1. Persiapan</a:t>
            </a:r>
          </a:p>
        </p:txBody>
      </p:sp>
      <p:sp>
        <p:nvSpPr>
          <p:cNvPr id="13" name="TextBox 12">
            <a:extLst>
              <a:ext uri="{FF2B5EF4-FFF2-40B4-BE49-F238E27FC236}">
                <a16:creationId xmlns:a16="http://schemas.microsoft.com/office/drawing/2014/main" id="{8F55E9A4-8EE8-3869-F3BF-D8B46400F3E8}"/>
              </a:ext>
            </a:extLst>
          </p:cNvPr>
          <p:cNvSpPr txBox="1"/>
          <p:nvPr/>
        </p:nvSpPr>
        <p:spPr>
          <a:xfrm>
            <a:off x="812800" y="2743200"/>
            <a:ext cx="21844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Siapkan akun, data uji, paket import, sample AOI, dan template evidence.</a:t>
            </a:r>
          </a:p>
        </p:txBody>
      </p:sp>
      <p:sp>
        <p:nvSpPr>
          <p:cNvPr id="14" name="Rectangle: Rounded Corners 13">
            <a:extLst>
              <a:ext uri="{FF2B5EF4-FFF2-40B4-BE49-F238E27FC236}">
                <a16:creationId xmlns:a16="http://schemas.microsoft.com/office/drawing/2014/main" id="{9DD32150-4FCC-3CD9-FBCC-10AFD6C26AEB}"/>
              </a:ext>
            </a:extLst>
          </p:cNvPr>
          <p:cNvSpPr/>
          <p:nvPr/>
        </p:nvSpPr>
        <p:spPr>
          <a:xfrm>
            <a:off x="3403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5C676CA3-7C4D-68A2-0175-21F155667B64}"/>
              </a:ext>
            </a:extLst>
          </p:cNvPr>
          <p:cNvSpPr/>
          <p:nvPr/>
        </p:nvSpPr>
        <p:spPr>
          <a:xfrm>
            <a:off x="3606800" y="2235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3ED76D9E-FAD9-3C68-9584-DF0C4E6DFCC0}"/>
              </a:ext>
            </a:extLst>
          </p:cNvPr>
          <p:cNvSpPr txBox="1"/>
          <p:nvPr/>
        </p:nvSpPr>
        <p:spPr>
          <a:xfrm>
            <a:off x="3606800" y="23622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2. Validasi lingkungan</a:t>
            </a:r>
          </a:p>
        </p:txBody>
      </p:sp>
      <p:sp>
        <p:nvSpPr>
          <p:cNvPr id="17" name="TextBox 16">
            <a:extLst>
              <a:ext uri="{FF2B5EF4-FFF2-40B4-BE49-F238E27FC236}">
                <a16:creationId xmlns:a16="http://schemas.microsoft.com/office/drawing/2014/main" id="{517A0C07-52A1-1203-CD20-5CF95B27ECF9}"/>
              </a:ext>
            </a:extLst>
          </p:cNvPr>
          <p:cNvSpPr txBox="1"/>
          <p:nvPr/>
        </p:nvSpPr>
        <p:spPr>
          <a:xfrm>
            <a:off x="3606800" y="2743200"/>
            <a:ext cx="21844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Pastikan app, route, DB, dan command import aktif.</a:t>
            </a:r>
          </a:p>
        </p:txBody>
      </p:sp>
      <p:sp>
        <p:nvSpPr>
          <p:cNvPr id="18" name="Rectangle: Rounded Corners 17">
            <a:extLst>
              <a:ext uri="{FF2B5EF4-FFF2-40B4-BE49-F238E27FC236}">
                <a16:creationId xmlns:a16="http://schemas.microsoft.com/office/drawing/2014/main" id="{29B4DC9C-0C79-57B6-8A0B-DB5FC17E77AD}"/>
              </a:ext>
            </a:extLst>
          </p:cNvPr>
          <p:cNvSpPr/>
          <p:nvPr/>
        </p:nvSpPr>
        <p:spPr>
          <a:xfrm>
            <a:off x="6197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21180370-19C0-AC48-5847-B77D6F04E690}"/>
              </a:ext>
            </a:extLst>
          </p:cNvPr>
          <p:cNvSpPr/>
          <p:nvPr/>
        </p:nvSpPr>
        <p:spPr>
          <a:xfrm>
            <a:off x="6400800" y="2235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990E6473-326B-0424-5BC3-DD5BB8D37CF3}"/>
              </a:ext>
            </a:extLst>
          </p:cNvPr>
          <p:cNvSpPr txBox="1"/>
          <p:nvPr/>
        </p:nvSpPr>
        <p:spPr>
          <a:xfrm>
            <a:off x="6400800" y="23622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3. Functional test</a:t>
            </a:r>
          </a:p>
        </p:txBody>
      </p:sp>
      <p:sp>
        <p:nvSpPr>
          <p:cNvPr id="21" name="TextBox 20">
            <a:extLst>
              <a:ext uri="{FF2B5EF4-FFF2-40B4-BE49-F238E27FC236}">
                <a16:creationId xmlns:a16="http://schemas.microsoft.com/office/drawing/2014/main" id="{6D89DEEC-E4CD-2FF4-F335-1B17D92DE969}"/>
              </a:ext>
            </a:extLst>
          </p:cNvPr>
          <p:cNvSpPr txBox="1"/>
          <p:nvPr/>
        </p:nvSpPr>
        <p:spPr>
          <a:xfrm>
            <a:off x="6400800" y="2743200"/>
            <a:ext cx="21844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Jalankan skenario fitur inti berdasarkan test case.</a:t>
            </a:r>
          </a:p>
        </p:txBody>
      </p:sp>
      <p:sp>
        <p:nvSpPr>
          <p:cNvPr id="22" name="Rectangle: Rounded Corners 21">
            <a:extLst>
              <a:ext uri="{FF2B5EF4-FFF2-40B4-BE49-F238E27FC236}">
                <a16:creationId xmlns:a16="http://schemas.microsoft.com/office/drawing/2014/main" id="{F0C00A92-9CAC-A1D6-638B-149EF2389244}"/>
              </a:ext>
            </a:extLst>
          </p:cNvPr>
          <p:cNvSpPr/>
          <p:nvPr/>
        </p:nvSpPr>
        <p:spPr>
          <a:xfrm>
            <a:off x="8991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53D3C6D7-0A4B-B881-BC89-1B4F1DC2F66B}"/>
              </a:ext>
            </a:extLst>
          </p:cNvPr>
          <p:cNvSpPr/>
          <p:nvPr/>
        </p:nvSpPr>
        <p:spPr>
          <a:xfrm>
            <a:off x="9194800" y="2235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5120F8A4-67B4-D9F6-D51A-E5EFC1FCAA8C}"/>
              </a:ext>
            </a:extLst>
          </p:cNvPr>
          <p:cNvSpPr txBox="1"/>
          <p:nvPr/>
        </p:nvSpPr>
        <p:spPr>
          <a:xfrm>
            <a:off x="9194800" y="23622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4. Integration test</a:t>
            </a:r>
          </a:p>
        </p:txBody>
      </p:sp>
      <p:sp>
        <p:nvSpPr>
          <p:cNvPr id="25" name="TextBox 24">
            <a:extLst>
              <a:ext uri="{FF2B5EF4-FFF2-40B4-BE49-F238E27FC236}">
                <a16:creationId xmlns:a16="http://schemas.microsoft.com/office/drawing/2014/main" id="{0720D602-16FE-BCBF-43BB-04C91CF130FE}"/>
              </a:ext>
            </a:extLst>
          </p:cNvPr>
          <p:cNvSpPr txBox="1"/>
          <p:nvPr/>
        </p:nvSpPr>
        <p:spPr>
          <a:xfrm>
            <a:off x="9194800" y="2743200"/>
            <a:ext cx="21844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Telusuri hasil import sampai WebMap dan download.</a:t>
            </a:r>
          </a:p>
        </p:txBody>
      </p:sp>
      <p:sp>
        <p:nvSpPr>
          <p:cNvPr id="26" name="Rectangle: Rounded Corners 25">
            <a:extLst>
              <a:ext uri="{FF2B5EF4-FFF2-40B4-BE49-F238E27FC236}">
                <a16:creationId xmlns:a16="http://schemas.microsoft.com/office/drawing/2014/main" id="{2F3AFAD5-5A20-6946-975B-EB1EABD291F7}"/>
              </a:ext>
            </a:extLst>
          </p:cNvPr>
          <p:cNvSpPr/>
          <p:nvPr/>
        </p:nvSpPr>
        <p:spPr>
          <a:xfrm>
            <a:off x="2006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373EDCF8-6BB3-55FD-853C-BF1AB6C8A5B1}"/>
              </a:ext>
            </a:extLst>
          </p:cNvPr>
          <p:cNvSpPr/>
          <p:nvPr/>
        </p:nvSpPr>
        <p:spPr>
          <a:xfrm>
            <a:off x="2209800" y="41656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299026CA-A74E-4864-1C1E-AD6ED0CF0A93}"/>
              </a:ext>
            </a:extLst>
          </p:cNvPr>
          <p:cNvSpPr txBox="1"/>
          <p:nvPr/>
        </p:nvSpPr>
        <p:spPr>
          <a:xfrm>
            <a:off x="2209800" y="42926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5. UAT</a:t>
            </a:r>
          </a:p>
        </p:txBody>
      </p:sp>
      <p:sp>
        <p:nvSpPr>
          <p:cNvPr id="29" name="TextBox 28">
            <a:extLst>
              <a:ext uri="{FF2B5EF4-FFF2-40B4-BE49-F238E27FC236}">
                <a16:creationId xmlns:a16="http://schemas.microsoft.com/office/drawing/2014/main" id="{5C87C078-4A2F-1687-BE9F-AE88BE65CDF4}"/>
              </a:ext>
            </a:extLst>
          </p:cNvPr>
          <p:cNvSpPr txBox="1"/>
          <p:nvPr/>
        </p:nvSpPr>
        <p:spPr>
          <a:xfrm>
            <a:off x="2209800" y="4673600"/>
            <a:ext cx="21844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Mintakan evaluator mencoba alur yang disiapkan.</a:t>
            </a:r>
          </a:p>
        </p:txBody>
      </p:sp>
      <p:sp>
        <p:nvSpPr>
          <p:cNvPr id="30" name="Rectangle: Rounded Corners 29">
            <a:extLst>
              <a:ext uri="{FF2B5EF4-FFF2-40B4-BE49-F238E27FC236}">
                <a16:creationId xmlns:a16="http://schemas.microsoft.com/office/drawing/2014/main" id="{D3DC7887-73FD-E0E0-0B28-4801A368E491}"/>
              </a:ext>
            </a:extLst>
          </p:cNvPr>
          <p:cNvSpPr/>
          <p:nvPr/>
        </p:nvSpPr>
        <p:spPr>
          <a:xfrm>
            <a:off x="4800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897BDA44-316C-A61F-7DE1-D4908DF0B8C9}"/>
              </a:ext>
            </a:extLst>
          </p:cNvPr>
          <p:cNvSpPr/>
          <p:nvPr/>
        </p:nvSpPr>
        <p:spPr>
          <a:xfrm>
            <a:off x="5003800" y="41656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C5136CD2-F739-B183-E193-69CC606A142A}"/>
              </a:ext>
            </a:extLst>
          </p:cNvPr>
          <p:cNvSpPr txBox="1"/>
          <p:nvPr/>
        </p:nvSpPr>
        <p:spPr>
          <a:xfrm>
            <a:off x="5003800" y="42926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6. Performance smoke</a:t>
            </a:r>
          </a:p>
        </p:txBody>
      </p:sp>
      <p:sp>
        <p:nvSpPr>
          <p:cNvPr id="33" name="TextBox 32">
            <a:extLst>
              <a:ext uri="{FF2B5EF4-FFF2-40B4-BE49-F238E27FC236}">
                <a16:creationId xmlns:a16="http://schemas.microsoft.com/office/drawing/2014/main" id="{A273FD50-D6B4-0CFB-9439-03158E243D6B}"/>
              </a:ext>
            </a:extLst>
          </p:cNvPr>
          <p:cNvSpPr txBox="1"/>
          <p:nvPr/>
        </p:nvSpPr>
        <p:spPr>
          <a:xfrm>
            <a:off x="5003800" y="4673600"/>
            <a:ext cx="21844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Ukur preview, import, dan download secara sederhana.</a:t>
            </a:r>
          </a:p>
        </p:txBody>
      </p:sp>
      <p:sp>
        <p:nvSpPr>
          <p:cNvPr id="34" name="Rectangle: Rounded Corners 33">
            <a:extLst>
              <a:ext uri="{FF2B5EF4-FFF2-40B4-BE49-F238E27FC236}">
                <a16:creationId xmlns:a16="http://schemas.microsoft.com/office/drawing/2014/main" id="{A6B5803D-C761-21CB-D116-AC9D0E2D52E0}"/>
              </a:ext>
            </a:extLst>
          </p:cNvPr>
          <p:cNvSpPr/>
          <p:nvPr/>
        </p:nvSpPr>
        <p:spPr>
          <a:xfrm>
            <a:off x="7594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7751B36B-3A9C-BE22-A30F-8A7A371B3E52}"/>
              </a:ext>
            </a:extLst>
          </p:cNvPr>
          <p:cNvSpPr/>
          <p:nvPr/>
        </p:nvSpPr>
        <p:spPr>
          <a:xfrm>
            <a:off x="7797800" y="41656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F6A4B5DD-CFCE-3684-5729-1F5B8EE1D65C}"/>
              </a:ext>
            </a:extLst>
          </p:cNvPr>
          <p:cNvSpPr txBox="1"/>
          <p:nvPr/>
        </p:nvSpPr>
        <p:spPr>
          <a:xfrm>
            <a:off x="7797800" y="42926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7. Rekap hasil</a:t>
            </a:r>
          </a:p>
        </p:txBody>
      </p:sp>
      <p:sp>
        <p:nvSpPr>
          <p:cNvPr id="37" name="TextBox 36">
            <a:extLst>
              <a:ext uri="{FF2B5EF4-FFF2-40B4-BE49-F238E27FC236}">
                <a16:creationId xmlns:a16="http://schemas.microsoft.com/office/drawing/2014/main" id="{F31629A6-37CE-B060-7275-7A91A597CC63}"/>
              </a:ext>
            </a:extLst>
          </p:cNvPr>
          <p:cNvSpPr txBox="1"/>
          <p:nvPr/>
        </p:nvSpPr>
        <p:spPr>
          <a:xfrm>
            <a:off x="7797800" y="4673600"/>
            <a:ext cx="21844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Simpulkan pass rate, defect, skor UAT, dan gap sistem.</a:t>
            </a:r>
          </a:p>
        </p:txBody>
      </p:sp>
      <p:cxnSp>
        <p:nvCxnSpPr>
          <p:cNvPr id="38" name="Straight Connector 37">
            <a:extLst>
              <a:ext uri="{FF2B5EF4-FFF2-40B4-BE49-F238E27FC236}">
                <a16:creationId xmlns:a16="http://schemas.microsoft.com/office/drawing/2014/main" id="{179E21DE-A60A-7067-2D5C-29ECB9E90C48}"/>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4CA2E13C-4779-F4B4-855B-466098A9D01A}"/>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6E32B98E-BD50-9E2E-5829-611B9D23CA12}"/>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13</a:t>
            </a:r>
          </a:p>
        </p:txBody>
      </p:sp>
    </p:spTree>
    <p:extLst>
      <p:ext uri="{BB962C8B-B14F-4D97-AF65-F5344CB8AC3E}">
        <p14:creationId xmlns:p14="http://schemas.microsoft.com/office/powerpoint/2010/main" val="3680223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1D25162-C2D4-1710-AAAF-A48973CD186B}"/>
              </a:ext>
            </a:extLst>
          </p:cNvPr>
          <p:cNvSpPr/>
          <p:nvPr/>
        </p:nvSpPr>
        <p:spPr>
          <a:xfrm>
            <a:off x="0" y="0"/>
            <a:ext cx="228600" cy="5715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A5915CF1-3288-9AAF-9529-1198F712423B}"/>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CB87939E-86ED-3FFD-1CC2-C4A176F1E282}"/>
              </a:ext>
            </a:extLst>
          </p:cNvPr>
          <p:cNvSpPr/>
          <p:nvPr/>
        </p:nvSpPr>
        <p:spPr>
          <a:xfrm>
            <a:off x="5969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581E925E-F611-9D47-4706-6D3DE30FFB84}"/>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AAADC148-DE43-2F09-0A88-61FAAD5B55CE}"/>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FB233AF6-964F-001F-2A8B-EB99A4335005}"/>
              </a:ext>
            </a:extLst>
          </p:cNvPr>
          <p:cNvSpPr txBox="1"/>
          <p:nvPr/>
        </p:nvSpPr>
        <p:spPr>
          <a:xfrm>
            <a:off x="736600" y="431800"/>
            <a:ext cx="1422400" cy="216085"/>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Stakeholders</a:t>
            </a:r>
          </a:p>
        </p:txBody>
      </p:sp>
      <p:sp>
        <p:nvSpPr>
          <p:cNvPr id="8" name="TextBox 7">
            <a:extLst>
              <a:ext uri="{FF2B5EF4-FFF2-40B4-BE49-F238E27FC236}">
                <a16:creationId xmlns:a16="http://schemas.microsoft.com/office/drawing/2014/main" id="{D5863C68-F2EC-E2D6-75CF-80B90FA9CC06}"/>
              </a:ext>
            </a:extLst>
          </p:cNvPr>
          <p:cNvSpPr txBox="1"/>
          <p:nvPr/>
        </p:nvSpPr>
        <p:spPr>
          <a:xfrm>
            <a:off x="609600" y="863600"/>
            <a:ext cx="9779000" cy="216085"/>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Siapa saja yang dibutuhkan untuk menjalankan pengujian</a:t>
            </a:r>
          </a:p>
        </p:txBody>
      </p:sp>
      <p:sp>
        <p:nvSpPr>
          <p:cNvPr id="9" name="TextBox 8">
            <a:extLst>
              <a:ext uri="{FF2B5EF4-FFF2-40B4-BE49-F238E27FC236}">
                <a16:creationId xmlns:a16="http://schemas.microsoft.com/office/drawing/2014/main" id="{4C75AB9D-0149-2C4D-4EAA-523B47CB9169}"/>
              </a:ext>
            </a:extLst>
          </p:cNvPr>
          <p:cNvSpPr txBox="1"/>
          <p:nvPr/>
        </p:nvSpPr>
        <p:spPr>
          <a:xfrm>
            <a:off x="609600" y="1371600"/>
            <a:ext cx="10414000" cy="216085"/>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Tidak semua metode membutuhkan orang yang sama. Ini penting dijelaskan agar scope pengujian terlihat realistis.</a:t>
            </a:r>
          </a:p>
        </p:txBody>
      </p:sp>
      <p:sp>
        <p:nvSpPr>
          <p:cNvPr id="10" name="Rectangle: Rounded Corners 9">
            <a:extLst>
              <a:ext uri="{FF2B5EF4-FFF2-40B4-BE49-F238E27FC236}">
                <a16:creationId xmlns:a16="http://schemas.microsoft.com/office/drawing/2014/main" id="{C4A3471B-9765-1EC4-579F-1ED806A4E835}"/>
              </a:ext>
            </a:extLst>
          </p:cNvPr>
          <p:cNvSpPr/>
          <p:nvPr/>
        </p:nvSpPr>
        <p:spPr>
          <a:xfrm>
            <a:off x="609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68080786-168E-9DE9-D112-26F4E226488E}"/>
              </a:ext>
            </a:extLst>
          </p:cNvPr>
          <p:cNvSpPr/>
          <p:nvPr/>
        </p:nvSpPr>
        <p:spPr>
          <a:xfrm>
            <a:off x="8128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0A72AC14-BBFB-EFDB-564B-F8E612DDBB2E}"/>
              </a:ext>
            </a:extLst>
          </p:cNvPr>
          <p:cNvSpPr txBox="1"/>
          <p:nvPr/>
        </p:nvSpPr>
        <p:spPr>
          <a:xfrm>
            <a:off x="812800" y="23114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Mahasiswa / penguji utama</a:t>
            </a:r>
          </a:p>
        </p:txBody>
      </p:sp>
      <p:sp>
        <p:nvSpPr>
          <p:cNvPr id="13" name="TextBox 12">
            <a:extLst>
              <a:ext uri="{FF2B5EF4-FFF2-40B4-BE49-F238E27FC236}">
                <a16:creationId xmlns:a16="http://schemas.microsoft.com/office/drawing/2014/main" id="{C0EA8CC4-F910-B257-3308-466D53CDD72A}"/>
              </a:ext>
            </a:extLst>
          </p:cNvPr>
          <p:cNvSpPr txBox="1"/>
          <p:nvPr/>
        </p:nvSpPr>
        <p:spPr>
          <a:xfrm>
            <a:off x="812800" y="2692400"/>
            <a:ext cx="2184400" cy="108042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Peran inti hampir di semua metode: menyusun test case, mengeksekusi uji, merekam evidence, dan menyusun analisis hasil.</a:t>
            </a:r>
          </a:p>
        </p:txBody>
      </p:sp>
      <p:sp>
        <p:nvSpPr>
          <p:cNvPr id="14" name="Rectangle: Rounded Corners 13">
            <a:extLst>
              <a:ext uri="{FF2B5EF4-FFF2-40B4-BE49-F238E27FC236}">
                <a16:creationId xmlns:a16="http://schemas.microsoft.com/office/drawing/2014/main" id="{604BFC05-0ED2-046F-A5B6-C9DF9C27EEA4}"/>
              </a:ext>
            </a:extLst>
          </p:cNvPr>
          <p:cNvSpPr/>
          <p:nvPr/>
        </p:nvSpPr>
        <p:spPr>
          <a:xfrm>
            <a:off x="3403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967E5E80-B3E4-A1C4-B7BE-F148790A0900}"/>
              </a:ext>
            </a:extLst>
          </p:cNvPr>
          <p:cNvSpPr/>
          <p:nvPr/>
        </p:nvSpPr>
        <p:spPr>
          <a:xfrm>
            <a:off x="3606800" y="2184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607180B2-4AEA-E6B6-6033-F4D680A3592C}"/>
              </a:ext>
            </a:extLst>
          </p:cNvPr>
          <p:cNvSpPr txBox="1"/>
          <p:nvPr/>
        </p:nvSpPr>
        <p:spPr>
          <a:xfrm>
            <a:off x="3606800" y="2311400"/>
            <a:ext cx="2184400" cy="432170"/>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Admin sistem atau akun admin</a:t>
            </a:r>
          </a:p>
        </p:txBody>
      </p:sp>
      <p:sp>
        <p:nvSpPr>
          <p:cNvPr id="17" name="TextBox 16">
            <a:extLst>
              <a:ext uri="{FF2B5EF4-FFF2-40B4-BE49-F238E27FC236}">
                <a16:creationId xmlns:a16="http://schemas.microsoft.com/office/drawing/2014/main" id="{6E71148E-7C06-7D9E-20A0-EB4FCC71207E}"/>
              </a:ext>
            </a:extLst>
          </p:cNvPr>
          <p:cNvSpPr txBox="1"/>
          <p:nvPr/>
        </p:nvSpPr>
        <p:spPr>
          <a:xfrm>
            <a:off x="3606800" y="2692400"/>
            <a:ext cx="2184400" cy="864339"/>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Diperlukan untuk pengujian import package, metadata, route admin, dan skenario akses khusus.</a:t>
            </a:r>
          </a:p>
        </p:txBody>
      </p:sp>
      <p:sp>
        <p:nvSpPr>
          <p:cNvPr id="18" name="Rectangle: Rounded Corners 17">
            <a:extLst>
              <a:ext uri="{FF2B5EF4-FFF2-40B4-BE49-F238E27FC236}">
                <a16:creationId xmlns:a16="http://schemas.microsoft.com/office/drawing/2014/main" id="{4D322615-C502-9197-F37B-0C5F3BEB4357}"/>
              </a:ext>
            </a:extLst>
          </p:cNvPr>
          <p:cNvSpPr/>
          <p:nvPr/>
        </p:nvSpPr>
        <p:spPr>
          <a:xfrm>
            <a:off x="6197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EA257F79-FB39-031D-FC97-8AF1DAB86767}"/>
              </a:ext>
            </a:extLst>
          </p:cNvPr>
          <p:cNvSpPr/>
          <p:nvPr/>
        </p:nvSpPr>
        <p:spPr>
          <a:xfrm>
            <a:off x="6400800" y="2184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42856683-3EAC-BBAB-951F-3644BAF549CC}"/>
              </a:ext>
            </a:extLst>
          </p:cNvPr>
          <p:cNvSpPr txBox="1"/>
          <p:nvPr/>
        </p:nvSpPr>
        <p:spPr>
          <a:xfrm>
            <a:off x="6400800" y="23114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User non-admin</a:t>
            </a:r>
          </a:p>
        </p:txBody>
      </p:sp>
      <p:sp>
        <p:nvSpPr>
          <p:cNvPr id="21" name="TextBox 20">
            <a:extLst>
              <a:ext uri="{FF2B5EF4-FFF2-40B4-BE49-F238E27FC236}">
                <a16:creationId xmlns:a16="http://schemas.microsoft.com/office/drawing/2014/main" id="{F166A118-058A-7144-B0A3-EBA75B786859}"/>
              </a:ext>
            </a:extLst>
          </p:cNvPr>
          <p:cNvSpPr txBox="1"/>
          <p:nvPr/>
        </p:nvSpPr>
        <p:spPr>
          <a:xfrm>
            <a:off x="6400800" y="2692400"/>
            <a:ext cx="2184400" cy="108042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Diperlukan untuk menguji katalog, download, akses terbatas, dan menilai kemudahan penggunaan pada UAT.</a:t>
            </a:r>
          </a:p>
        </p:txBody>
      </p:sp>
      <p:sp>
        <p:nvSpPr>
          <p:cNvPr id="22" name="Rectangle: Rounded Corners 21">
            <a:extLst>
              <a:ext uri="{FF2B5EF4-FFF2-40B4-BE49-F238E27FC236}">
                <a16:creationId xmlns:a16="http://schemas.microsoft.com/office/drawing/2014/main" id="{DE1D4E88-BDE8-3C06-ED7F-154430905159}"/>
              </a:ext>
            </a:extLst>
          </p:cNvPr>
          <p:cNvSpPr/>
          <p:nvPr/>
        </p:nvSpPr>
        <p:spPr>
          <a:xfrm>
            <a:off x="8991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30219B33-2DD5-A1EE-A448-0A4A8B271668}"/>
              </a:ext>
            </a:extLst>
          </p:cNvPr>
          <p:cNvSpPr/>
          <p:nvPr/>
        </p:nvSpPr>
        <p:spPr>
          <a:xfrm>
            <a:off x="9194800" y="2184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536D6174-905A-3937-BD65-D1DC1D85523C}"/>
              </a:ext>
            </a:extLst>
          </p:cNvPr>
          <p:cNvSpPr txBox="1"/>
          <p:nvPr/>
        </p:nvSpPr>
        <p:spPr>
          <a:xfrm>
            <a:off x="9194800" y="2311400"/>
            <a:ext cx="21844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Pembimbing / evaluator</a:t>
            </a:r>
          </a:p>
        </p:txBody>
      </p:sp>
      <p:sp>
        <p:nvSpPr>
          <p:cNvPr id="25" name="TextBox 24">
            <a:extLst>
              <a:ext uri="{FF2B5EF4-FFF2-40B4-BE49-F238E27FC236}">
                <a16:creationId xmlns:a16="http://schemas.microsoft.com/office/drawing/2014/main" id="{95F28034-2BD3-D938-5179-C9D460964FA1}"/>
              </a:ext>
            </a:extLst>
          </p:cNvPr>
          <p:cNvSpPr txBox="1"/>
          <p:nvPr/>
        </p:nvSpPr>
        <p:spPr>
          <a:xfrm>
            <a:off x="9194800" y="2692400"/>
            <a:ext cx="2184400" cy="1080424"/>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Tidak harus menjalankan semua test, tetapi sangat berguna untuk menilai UAT, scope strategi, dan kelayakan hasil.</a:t>
            </a:r>
            <a:endParaRPr lang="id-ID" sz="1130">
              <a:solidFill>
                <a:srgbClr val="243745"/>
              </a:solidFill>
              <a:latin typeface="Aptos" panose="020B0004020202020204" pitchFamily="34" charset="0"/>
            </a:endParaRPr>
          </a:p>
        </p:txBody>
      </p:sp>
      <p:sp>
        <p:nvSpPr>
          <p:cNvPr id="26" name="TextBox 25">
            <a:extLst>
              <a:ext uri="{FF2B5EF4-FFF2-40B4-BE49-F238E27FC236}">
                <a16:creationId xmlns:a16="http://schemas.microsoft.com/office/drawing/2014/main" id="{75100C5A-24DA-D7D2-595F-31720478CCF4}"/>
              </a:ext>
            </a:extLst>
          </p:cNvPr>
          <p:cNvSpPr txBox="1"/>
          <p:nvPr/>
        </p:nvSpPr>
        <p:spPr>
          <a:xfrm>
            <a:off x="660400" y="5257800"/>
            <a:ext cx="10922000" cy="216085"/>
          </a:xfrm>
          <a:prstGeom prst="rect">
            <a:avLst/>
          </a:prstGeom>
          <a:noFill/>
        </p:spPr>
        <p:txBody>
          <a:bodyPr vert="horz" wrap="square" lIns="0" tIns="0" rIns="0" bIns="0" rtlCol="0">
            <a:noAutofit/>
          </a:bodyPr>
          <a:lstStyle/>
          <a:p>
            <a:r>
              <a:rPr lang="id-ID" sz="1100">
                <a:solidFill>
                  <a:srgbClr val="65727D"/>
                </a:solidFill>
                <a:latin typeface="Aptos" panose="020B0004020202020204" pitchFamily="34" charset="0"/>
              </a:rPr>
              <a:t>Jika sumber daya terbatas, minimal libatkan: Anda sendiri sebagai penguji utama, satu akun admin, satu akun user, dan 2-3 evaluator UAT.</a:t>
            </a:r>
          </a:p>
        </p:txBody>
      </p:sp>
      <p:cxnSp>
        <p:nvCxnSpPr>
          <p:cNvPr id="27" name="Straight Connector 26">
            <a:extLst>
              <a:ext uri="{FF2B5EF4-FFF2-40B4-BE49-F238E27FC236}">
                <a16:creationId xmlns:a16="http://schemas.microsoft.com/office/drawing/2014/main" id="{BE9BA6E1-6D93-2A49-742B-E866043BB6F7}"/>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BB4B3E8B-B0F5-EC9F-5475-ECBCE1E468CD}"/>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29" name="TextBox 28">
            <a:extLst>
              <a:ext uri="{FF2B5EF4-FFF2-40B4-BE49-F238E27FC236}">
                <a16:creationId xmlns:a16="http://schemas.microsoft.com/office/drawing/2014/main" id="{65E1511B-C9E5-A5DF-271C-881677D0F7A5}"/>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14</a:t>
            </a:r>
          </a:p>
        </p:txBody>
      </p:sp>
    </p:spTree>
    <p:extLst>
      <p:ext uri="{BB962C8B-B14F-4D97-AF65-F5344CB8AC3E}">
        <p14:creationId xmlns:p14="http://schemas.microsoft.com/office/powerpoint/2010/main" val="2408407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363CEF-8F2D-471D-4F6A-71AE716C8775}"/>
              </a:ext>
            </a:extLst>
          </p:cNvPr>
          <p:cNvSpPr/>
          <p:nvPr/>
        </p:nvSpPr>
        <p:spPr>
          <a:xfrm>
            <a:off x="0" y="0"/>
            <a:ext cx="228600" cy="5715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3F6318B7-408D-DCC1-2557-E8F858464435}"/>
              </a:ext>
            </a:extLst>
          </p:cNvPr>
          <p:cNvSpPr/>
          <p:nvPr/>
        </p:nvSpPr>
        <p:spPr>
          <a:xfrm>
            <a:off x="-1397000" y="3429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0D31D254-77DF-F4D4-DDD6-5CBE40F68C39}"/>
              </a:ext>
            </a:extLst>
          </p:cNvPr>
          <p:cNvSpPr/>
          <p:nvPr/>
        </p:nvSpPr>
        <p:spPr>
          <a:xfrm>
            <a:off x="5969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69323A07-4EDC-730B-1D37-B7DAED61DE81}"/>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F28CF8B4-18E2-DEB4-34B6-7BC47865E65D}"/>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3230CCD4-C843-BBCB-8980-ED3F6185310E}"/>
              </a:ext>
            </a:extLst>
          </p:cNvPr>
          <p:cNvSpPr txBox="1"/>
          <p:nvPr/>
        </p:nvSpPr>
        <p:spPr>
          <a:xfrm>
            <a:off x="736600" y="431800"/>
            <a:ext cx="1422400" cy="216085"/>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Data Setup</a:t>
            </a:r>
          </a:p>
        </p:txBody>
      </p:sp>
      <p:sp>
        <p:nvSpPr>
          <p:cNvPr id="8" name="TextBox 7">
            <a:extLst>
              <a:ext uri="{FF2B5EF4-FFF2-40B4-BE49-F238E27FC236}">
                <a16:creationId xmlns:a16="http://schemas.microsoft.com/office/drawing/2014/main" id="{9E546AE6-1A55-1FAD-B2AA-4AD98496CD42}"/>
              </a:ext>
            </a:extLst>
          </p:cNvPr>
          <p:cNvSpPr txBox="1"/>
          <p:nvPr/>
        </p:nvSpPr>
        <p:spPr>
          <a:xfrm>
            <a:off x="609600" y="863600"/>
            <a:ext cx="9779000" cy="216085"/>
          </a:xfrm>
          <a:prstGeom prst="rect">
            <a:avLst/>
          </a:prstGeom>
          <a:noFill/>
        </p:spPr>
        <p:txBody>
          <a:bodyPr vert="horz" wrap="square" lIns="0" tIns="0" rIns="0" bIns="0" rtlCol="0">
            <a:noAutofit/>
          </a:bodyPr>
          <a:lstStyle/>
          <a:p>
            <a:r>
              <a:rPr lang="nn-NO" sz="2600" b="1">
                <a:solidFill>
                  <a:srgbClr val="13293D"/>
                </a:solidFill>
                <a:latin typeface="Georgia" panose="02040502050405020303" pitchFamily="18" charset="0"/>
              </a:rPr>
              <a:t>Data, format file, dan prasyarat pengujian</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B73068B6-B31C-5E4A-654D-1A4FBD9598A1}"/>
              </a:ext>
            </a:extLst>
          </p:cNvPr>
          <p:cNvSpPr txBox="1"/>
          <p:nvPr/>
        </p:nvSpPr>
        <p:spPr>
          <a:xfrm>
            <a:off x="609600" y="1371600"/>
            <a:ext cx="10414000" cy="216085"/>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Bagian ini penting karena kualitas pengujian sangat bergantung pada data uji yang benar.</a:t>
            </a:r>
          </a:p>
        </p:txBody>
      </p:sp>
      <p:sp>
        <p:nvSpPr>
          <p:cNvPr id="10" name="Rectangle: Rounded Corners 9">
            <a:extLst>
              <a:ext uri="{FF2B5EF4-FFF2-40B4-BE49-F238E27FC236}">
                <a16:creationId xmlns:a16="http://schemas.microsoft.com/office/drawing/2014/main" id="{6BA612D7-8E5B-A600-14DE-0DA3539B1CD2}"/>
              </a:ext>
            </a:extLst>
          </p:cNvPr>
          <p:cNvSpPr/>
          <p:nvPr/>
        </p:nvSpPr>
        <p:spPr>
          <a:xfrm>
            <a:off x="609600" y="1955800"/>
            <a:ext cx="4622800" cy="3454400"/>
          </a:xfrm>
          <a:prstGeom prst="roundRect">
            <a:avLst>
              <a:gd name="adj" fmla="val 5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0295DF2-6BE3-1380-AFBE-5B43713B16A3}"/>
              </a:ext>
            </a:extLst>
          </p:cNvPr>
          <p:cNvSpPr txBox="1"/>
          <p:nvPr/>
        </p:nvSpPr>
        <p:spPr>
          <a:xfrm>
            <a:off x="939800" y="2336800"/>
            <a:ext cx="3987800" cy="2160848"/>
          </a:xfrm>
          <a:prstGeom prst="rect">
            <a:avLst/>
          </a:prstGeom>
          <a:noFill/>
        </p:spPr>
        <p:txBody>
          <a:bodyPr vert="horz" wrap="square" lIns="0" tIns="0" rIns="0" bIns="0" rtlCol="0">
            <a:noAutofit/>
          </a:bodyPr>
          <a:lstStyle/>
          <a:p>
            <a:r>
              <a:rPr lang="id-ID" sz="1200">
                <a:solidFill>
                  <a:srgbClr val="FFFCF8"/>
                </a:solidFill>
                <a:latin typeface="Consolas" panose="020B0609020204030204" pitchFamily="49" charset="0"/>
              </a:rPr>
              <a:t>Package import aktif</a:t>
            </a:r>
          </a:p>
          <a:p>
            <a:r>
              <a:rPr lang="id-ID" sz="1200">
                <a:solidFill>
                  <a:srgbClr val="FFFCF8"/>
                </a:solidFill>
                <a:latin typeface="Consolas" panose="020B0609020204030204" pitchFamily="49" charset="0"/>
              </a:rPr>
              <a:t>writable/imports/&lt;package&gt;/</a:t>
            </a:r>
          </a:p>
          <a:p>
            <a:r>
              <a:rPr lang="id-ID" sz="1200">
                <a:solidFill>
                  <a:srgbClr val="FFFCF8"/>
                </a:solidFill>
                <a:latin typeface="Consolas" panose="020B0609020204030204" pitchFamily="49" charset="0"/>
              </a:rPr>
              <a:t>  level1/</a:t>
            </a:r>
          </a:p>
          <a:p>
            <a:r>
              <a:rPr lang="id-ID" sz="1200">
                <a:solidFill>
                  <a:srgbClr val="FFFCF8"/>
                </a:solidFill>
                <a:latin typeface="Consolas" panose="020B0609020204030204" pitchFamily="49" charset="0"/>
              </a:rPr>
              <a:t>    Metadata_Gravimetri_Level_1.xml</a:t>
            </a:r>
          </a:p>
          <a:p>
            <a:r>
              <a:rPr lang="id-ID" sz="1200">
                <a:solidFill>
                  <a:srgbClr val="FFFCF8"/>
                </a:solidFill>
                <a:latin typeface="Consolas" panose="020B0609020204030204" pitchFamily="49" charset="0"/>
              </a:rPr>
              <a:t>    faa/*.csv</a:t>
            </a:r>
          </a:p>
          <a:p>
            <a:r>
              <a:rPr lang="id-ID" sz="1200">
                <a:solidFill>
                  <a:srgbClr val="FFFCF8"/>
                </a:solidFill>
                <a:latin typeface="Consolas" panose="020B0609020204030204" pitchFamily="49" charset="0"/>
              </a:rPr>
              <a:t>    cba/*.csv</a:t>
            </a:r>
          </a:p>
          <a:p>
            <a:r>
              <a:rPr lang="id-ID" sz="1200">
                <a:solidFill>
                  <a:srgbClr val="FFFCF8"/>
                </a:solidFill>
                <a:latin typeface="Consolas" panose="020B0609020204030204" pitchFamily="49" charset="0"/>
              </a:rPr>
              <a:t>  level2/</a:t>
            </a:r>
          </a:p>
          <a:p>
            <a:r>
              <a:rPr lang="id-ID" sz="1200">
                <a:solidFill>
                  <a:srgbClr val="FFFCF8"/>
                </a:solidFill>
                <a:latin typeface="Consolas" panose="020B0609020204030204" pitchFamily="49" charset="0"/>
              </a:rPr>
              <a:t>    Metadata_Gravimetri_Level_2.xml</a:t>
            </a:r>
          </a:p>
          <a:p>
            <a:r>
              <a:rPr lang="id-ID" sz="1200">
                <a:solidFill>
                  <a:srgbClr val="FFFCF8"/>
                </a:solidFill>
                <a:latin typeface="Consolas" panose="020B0609020204030204" pitchFamily="49" charset="0"/>
              </a:rPr>
              <a:t>    faa/FAA.tif</a:t>
            </a:r>
          </a:p>
          <a:p>
            <a:r>
              <a:rPr lang="id-ID" sz="1200">
                <a:solidFill>
                  <a:srgbClr val="FFFCF8"/>
                </a:solidFill>
                <a:latin typeface="Consolas" panose="020B0609020204030204" pitchFamily="49" charset="0"/>
              </a:rPr>
              <a:t>    cba/CBA.tif</a:t>
            </a:r>
          </a:p>
        </p:txBody>
      </p:sp>
      <p:sp>
        <p:nvSpPr>
          <p:cNvPr id="12" name="Rectangle: Rounded Corners 11">
            <a:extLst>
              <a:ext uri="{FF2B5EF4-FFF2-40B4-BE49-F238E27FC236}">
                <a16:creationId xmlns:a16="http://schemas.microsoft.com/office/drawing/2014/main" id="{07DE20F9-12BB-098F-B393-16417C1869FA}"/>
              </a:ext>
            </a:extLst>
          </p:cNvPr>
          <p:cNvSpPr/>
          <p:nvPr/>
        </p:nvSpPr>
        <p:spPr>
          <a:xfrm>
            <a:off x="5588000" y="1955800"/>
            <a:ext cx="27940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C92EB50D-B0E2-7D02-4A07-19CD24F6AD80}"/>
              </a:ext>
            </a:extLst>
          </p:cNvPr>
          <p:cNvSpPr/>
          <p:nvPr/>
        </p:nvSpPr>
        <p:spPr>
          <a:xfrm>
            <a:off x="57912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Box 13">
            <a:extLst>
              <a:ext uri="{FF2B5EF4-FFF2-40B4-BE49-F238E27FC236}">
                <a16:creationId xmlns:a16="http://schemas.microsoft.com/office/drawing/2014/main" id="{AEA72AB8-CF4E-38DB-2F34-1EA41196ACB8}"/>
              </a:ext>
            </a:extLst>
          </p:cNvPr>
          <p:cNvSpPr txBox="1"/>
          <p:nvPr/>
        </p:nvSpPr>
        <p:spPr>
          <a:xfrm>
            <a:off x="5791200" y="2286000"/>
            <a:ext cx="23876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CSV Level 1</a:t>
            </a:r>
          </a:p>
        </p:txBody>
      </p:sp>
      <p:sp>
        <p:nvSpPr>
          <p:cNvPr id="15" name="TextBox 14">
            <a:extLst>
              <a:ext uri="{FF2B5EF4-FFF2-40B4-BE49-F238E27FC236}">
                <a16:creationId xmlns:a16="http://schemas.microsoft.com/office/drawing/2014/main" id="{34AC1C0D-B3EF-CCE8-7DC6-DE964F346732}"/>
              </a:ext>
            </a:extLst>
          </p:cNvPr>
          <p:cNvSpPr txBox="1"/>
          <p:nvPr/>
        </p:nvSpPr>
        <p:spPr>
          <a:xfrm>
            <a:off x="5791200" y="2667000"/>
            <a:ext cx="23876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Minimal memuat Lintang, Bujur, Tinggi Ortometrik atau Tinggi Ort, dan FAA atau CBA.</a:t>
            </a:r>
          </a:p>
        </p:txBody>
      </p:sp>
      <p:sp>
        <p:nvSpPr>
          <p:cNvPr id="16" name="Rectangle: Rounded Corners 15">
            <a:extLst>
              <a:ext uri="{FF2B5EF4-FFF2-40B4-BE49-F238E27FC236}">
                <a16:creationId xmlns:a16="http://schemas.microsoft.com/office/drawing/2014/main" id="{0E9C17AC-3361-CB75-E670-3C939619330E}"/>
              </a:ext>
            </a:extLst>
          </p:cNvPr>
          <p:cNvSpPr/>
          <p:nvPr/>
        </p:nvSpPr>
        <p:spPr>
          <a:xfrm>
            <a:off x="8686800" y="1955800"/>
            <a:ext cx="28956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a:extLst>
              <a:ext uri="{FF2B5EF4-FFF2-40B4-BE49-F238E27FC236}">
                <a16:creationId xmlns:a16="http://schemas.microsoft.com/office/drawing/2014/main" id="{2BCA5B8D-F099-B034-8FF9-25880B307E16}"/>
              </a:ext>
            </a:extLst>
          </p:cNvPr>
          <p:cNvSpPr/>
          <p:nvPr/>
        </p:nvSpPr>
        <p:spPr>
          <a:xfrm>
            <a:off x="8890000" y="21590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TextBox 17">
            <a:extLst>
              <a:ext uri="{FF2B5EF4-FFF2-40B4-BE49-F238E27FC236}">
                <a16:creationId xmlns:a16="http://schemas.microsoft.com/office/drawing/2014/main" id="{6D510E86-51BA-E41D-2BD2-FC2D0D14DF3B}"/>
              </a:ext>
            </a:extLst>
          </p:cNvPr>
          <p:cNvSpPr txBox="1"/>
          <p:nvPr/>
        </p:nvSpPr>
        <p:spPr>
          <a:xfrm>
            <a:off x="8890000" y="2286000"/>
            <a:ext cx="24892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Metadata XML</a:t>
            </a:r>
          </a:p>
        </p:txBody>
      </p:sp>
      <p:sp>
        <p:nvSpPr>
          <p:cNvPr id="19" name="TextBox 18">
            <a:extLst>
              <a:ext uri="{FF2B5EF4-FFF2-40B4-BE49-F238E27FC236}">
                <a16:creationId xmlns:a16="http://schemas.microsoft.com/office/drawing/2014/main" id="{9113536C-7F49-50F0-D358-2CA86834700D}"/>
              </a:ext>
            </a:extLst>
          </p:cNvPr>
          <p:cNvSpPr txBox="1"/>
          <p:nvPr/>
        </p:nvSpPr>
        <p:spPr>
          <a:xfrm>
            <a:off x="8890000" y="2667000"/>
            <a:ext cx="24892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Digunakan untuk sinkronisasi metadata level 1 dan level 2 ke database.</a:t>
            </a:r>
          </a:p>
        </p:txBody>
      </p:sp>
      <p:sp>
        <p:nvSpPr>
          <p:cNvPr id="20" name="Rectangle: Rounded Corners 19">
            <a:extLst>
              <a:ext uri="{FF2B5EF4-FFF2-40B4-BE49-F238E27FC236}">
                <a16:creationId xmlns:a16="http://schemas.microsoft.com/office/drawing/2014/main" id="{D838D313-85C3-AEDC-2D62-0D07B8CB2094}"/>
              </a:ext>
            </a:extLst>
          </p:cNvPr>
          <p:cNvSpPr/>
          <p:nvPr/>
        </p:nvSpPr>
        <p:spPr>
          <a:xfrm>
            <a:off x="5588000" y="3810000"/>
            <a:ext cx="27940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a:extLst>
              <a:ext uri="{FF2B5EF4-FFF2-40B4-BE49-F238E27FC236}">
                <a16:creationId xmlns:a16="http://schemas.microsoft.com/office/drawing/2014/main" id="{4CDE05E1-9F83-0F84-D48D-03A63599C981}"/>
              </a:ext>
            </a:extLst>
          </p:cNvPr>
          <p:cNvSpPr/>
          <p:nvPr/>
        </p:nvSpPr>
        <p:spPr>
          <a:xfrm>
            <a:off x="5791200" y="4013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21">
            <a:extLst>
              <a:ext uri="{FF2B5EF4-FFF2-40B4-BE49-F238E27FC236}">
                <a16:creationId xmlns:a16="http://schemas.microsoft.com/office/drawing/2014/main" id="{41997E33-1CAA-1EA7-B7B2-95E9B4F55343}"/>
              </a:ext>
            </a:extLst>
          </p:cNvPr>
          <p:cNvSpPr txBox="1"/>
          <p:nvPr/>
        </p:nvSpPr>
        <p:spPr>
          <a:xfrm>
            <a:off x="5791200" y="4140200"/>
            <a:ext cx="23876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Raster TIFF</a:t>
            </a:r>
          </a:p>
        </p:txBody>
      </p:sp>
      <p:sp>
        <p:nvSpPr>
          <p:cNvPr id="23" name="TextBox 22">
            <a:extLst>
              <a:ext uri="{FF2B5EF4-FFF2-40B4-BE49-F238E27FC236}">
                <a16:creationId xmlns:a16="http://schemas.microsoft.com/office/drawing/2014/main" id="{A7CA0A33-6D67-DDFC-BDC6-A38A748BB73E}"/>
              </a:ext>
            </a:extLst>
          </p:cNvPr>
          <p:cNvSpPr txBox="1"/>
          <p:nvPr/>
        </p:nvSpPr>
        <p:spPr>
          <a:xfrm>
            <a:off x="5791200" y="4521200"/>
            <a:ext cx="23876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Digunakan untuk level 2 dan dipotong mengikuti grid 0.125 derajat.</a:t>
            </a:r>
          </a:p>
        </p:txBody>
      </p:sp>
      <p:sp>
        <p:nvSpPr>
          <p:cNvPr id="24" name="Rectangle: Rounded Corners 23">
            <a:extLst>
              <a:ext uri="{FF2B5EF4-FFF2-40B4-BE49-F238E27FC236}">
                <a16:creationId xmlns:a16="http://schemas.microsoft.com/office/drawing/2014/main" id="{3257AFCD-83BC-FE8E-449B-8FD4BE13961B}"/>
              </a:ext>
            </a:extLst>
          </p:cNvPr>
          <p:cNvSpPr/>
          <p:nvPr/>
        </p:nvSpPr>
        <p:spPr>
          <a:xfrm>
            <a:off x="8686800" y="3810000"/>
            <a:ext cx="28956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5" name="Rectangle 24">
            <a:extLst>
              <a:ext uri="{FF2B5EF4-FFF2-40B4-BE49-F238E27FC236}">
                <a16:creationId xmlns:a16="http://schemas.microsoft.com/office/drawing/2014/main" id="{DFCCE3EB-4DA7-AF10-11B3-A3F63C76BD19}"/>
              </a:ext>
            </a:extLst>
          </p:cNvPr>
          <p:cNvSpPr/>
          <p:nvPr/>
        </p:nvSpPr>
        <p:spPr>
          <a:xfrm>
            <a:off x="8890000" y="4013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6" name="TextBox 25">
            <a:extLst>
              <a:ext uri="{FF2B5EF4-FFF2-40B4-BE49-F238E27FC236}">
                <a16:creationId xmlns:a16="http://schemas.microsoft.com/office/drawing/2014/main" id="{0A30D192-E3E0-523C-F55E-9E5B540FACED}"/>
              </a:ext>
            </a:extLst>
          </p:cNvPr>
          <p:cNvSpPr txBox="1"/>
          <p:nvPr/>
        </p:nvSpPr>
        <p:spPr>
          <a:xfrm>
            <a:off x="8890000" y="4140200"/>
            <a:ext cx="24892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AOI WebMap</a:t>
            </a:r>
          </a:p>
        </p:txBody>
      </p:sp>
      <p:sp>
        <p:nvSpPr>
          <p:cNvPr id="27" name="TextBox 26">
            <a:extLst>
              <a:ext uri="{FF2B5EF4-FFF2-40B4-BE49-F238E27FC236}">
                <a16:creationId xmlns:a16="http://schemas.microsoft.com/office/drawing/2014/main" id="{5FDB8589-A986-B3B8-CE62-3F3F40A17EC2}"/>
              </a:ext>
            </a:extLst>
          </p:cNvPr>
          <p:cNvSpPr txBox="1"/>
          <p:nvPr/>
        </p:nvSpPr>
        <p:spPr>
          <a:xfrm>
            <a:off x="8890000" y="4521200"/>
            <a:ext cx="24892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Siapkan GeoJSON dan KML untuk menguji upload area aktif di peta.</a:t>
            </a:r>
          </a:p>
        </p:txBody>
      </p:sp>
      <p:cxnSp>
        <p:nvCxnSpPr>
          <p:cNvPr id="28" name="Straight Connector 27">
            <a:extLst>
              <a:ext uri="{FF2B5EF4-FFF2-40B4-BE49-F238E27FC236}">
                <a16:creationId xmlns:a16="http://schemas.microsoft.com/office/drawing/2014/main" id="{B44CF880-A681-1F95-EAA5-DBAB924C1523}"/>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09CE1BCB-5ED9-2D6E-D165-96A4BB804CB1}"/>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0" name="TextBox 29">
            <a:extLst>
              <a:ext uri="{FF2B5EF4-FFF2-40B4-BE49-F238E27FC236}">
                <a16:creationId xmlns:a16="http://schemas.microsoft.com/office/drawing/2014/main" id="{88BF4026-8C7D-1A06-0587-224E0623617E}"/>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15</a:t>
            </a:r>
          </a:p>
        </p:txBody>
      </p:sp>
    </p:spTree>
    <p:extLst>
      <p:ext uri="{BB962C8B-B14F-4D97-AF65-F5344CB8AC3E}">
        <p14:creationId xmlns:p14="http://schemas.microsoft.com/office/powerpoint/2010/main" val="1752773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1E00E3-E89B-2653-EB0C-7D8C22FCE8CE}"/>
              </a:ext>
            </a:extLst>
          </p:cNvPr>
          <p:cNvSpPr/>
          <p:nvPr/>
        </p:nvSpPr>
        <p:spPr>
          <a:xfrm>
            <a:off x="0" y="0"/>
            <a:ext cx="228600" cy="5715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0D4544D3-83DA-E07B-8908-62D02D2DFA04}"/>
              </a:ext>
            </a:extLst>
          </p:cNvPr>
          <p:cNvSpPr/>
          <p:nvPr/>
        </p:nvSpPr>
        <p:spPr>
          <a:xfrm>
            <a:off x="-1397000" y="3429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2A31C0E9-65E1-035A-ECA6-876644F46FEF}"/>
              </a:ext>
            </a:extLst>
          </p:cNvPr>
          <p:cNvSpPr/>
          <p:nvPr/>
        </p:nvSpPr>
        <p:spPr>
          <a:xfrm>
            <a:off x="5969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EECC0856-FB30-FF0F-879E-C8ACD742D397}"/>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28A9C96A-1873-1C51-A681-CDAB6C7E2439}"/>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5F6E9847-676A-A309-70E3-115148813B53}"/>
              </a:ext>
            </a:extLst>
          </p:cNvPr>
          <p:cNvSpPr txBox="1"/>
          <p:nvPr/>
        </p:nvSpPr>
        <p:spPr>
          <a:xfrm>
            <a:off x="736600" y="431800"/>
            <a:ext cx="1422400" cy="216085"/>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Evidence</a:t>
            </a:r>
          </a:p>
        </p:txBody>
      </p:sp>
      <p:sp>
        <p:nvSpPr>
          <p:cNvPr id="8" name="TextBox 7">
            <a:extLst>
              <a:ext uri="{FF2B5EF4-FFF2-40B4-BE49-F238E27FC236}">
                <a16:creationId xmlns:a16="http://schemas.microsoft.com/office/drawing/2014/main" id="{F8E8D4A5-ED7F-EA16-145B-BDFEE47455D0}"/>
              </a:ext>
            </a:extLst>
          </p:cNvPr>
          <p:cNvSpPr txBox="1"/>
          <p:nvPr/>
        </p:nvSpPr>
        <p:spPr>
          <a:xfrm>
            <a:off x="609600" y="863600"/>
            <a:ext cx="9779000" cy="216085"/>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Dokumen, form, dan bukti uji yang perlu dikumpulkan</a:t>
            </a:r>
          </a:p>
        </p:txBody>
      </p:sp>
      <p:sp>
        <p:nvSpPr>
          <p:cNvPr id="9" name="TextBox 8">
            <a:extLst>
              <a:ext uri="{FF2B5EF4-FFF2-40B4-BE49-F238E27FC236}">
                <a16:creationId xmlns:a16="http://schemas.microsoft.com/office/drawing/2014/main" id="{BCA2B9E3-4FF5-D434-D785-B00CB8AABB74}"/>
              </a:ext>
            </a:extLst>
          </p:cNvPr>
          <p:cNvSpPr txBox="1"/>
          <p:nvPr/>
        </p:nvSpPr>
        <p:spPr>
          <a:xfrm>
            <a:off x="609600" y="1371600"/>
            <a:ext cx="10414000" cy="216085"/>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Dengan evidence yang rapi, hasil pengujian akan terlihat jauh lebih kuat daripada demo lisan semata.</a:t>
            </a:r>
          </a:p>
        </p:txBody>
      </p:sp>
      <p:sp>
        <p:nvSpPr>
          <p:cNvPr id="10" name="Rectangle: Rounded Corners 9">
            <a:extLst>
              <a:ext uri="{FF2B5EF4-FFF2-40B4-BE49-F238E27FC236}">
                <a16:creationId xmlns:a16="http://schemas.microsoft.com/office/drawing/2014/main" id="{7C3A0DC6-39E0-0070-213F-253EC4DDF3BD}"/>
              </a:ext>
            </a:extLst>
          </p:cNvPr>
          <p:cNvSpPr/>
          <p:nvPr/>
        </p:nvSpPr>
        <p:spPr>
          <a:xfrm>
            <a:off x="6096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D5E9D4A2-D8B3-0AEA-C166-EC2BC7249547}"/>
              </a:ext>
            </a:extLst>
          </p:cNvPr>
          <p:cNvSpPr/>
          <p:nvPr/>
        </p:nvSpPr>
        <p:spPr>
          <a:xfrm>
            <a:off x="8128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8F6C8106-EF60-133C-D70B-AC8281FD8ED2}"/>
              </a:ext>
            </a:extLst>
          </p:cNvPr>
          <p:cNvSpPr txBox="1"/>
          <p:nvPr/>
        </p:nvSpPr>
        <p:spPr>
          <a:xfrm>
            <a:off x="812800" y="2311400"/>
            <a:ext cx="215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Test case matrix</a:t>
            </a:r>
          </a:p>
        </p:txBody>
      </p:sp>
      <p:sp>
        <p:nvSpPr>
          <p:cNvPr id="13" name="TextBox 12">
            <a:extLst>
              <a:ext uri="{FF2B5EF4-FFF2-40B4-BE49-F238E27FC236}">
                <a16:creationId xmlns:a16="http://schemas.microsoft.com/office/drawing/2014/main" id="{B34CA6ED-FFD1-3015-A45D-D05F5B364B9A}"/>
              </a:ext>
            </a:extLst>
          </p:cNvPr>
          <p:cNvSpPr txBox="1"/>
          <p:nvPr/>
        </p:nvSpPr>
        <p:spPr>
          <a:xfrm>
            <a:off x="812800" y="2692400"/>
            <a:ext cx="21590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Daftar skenario, expected result, prioritas, dan status.</a:t>
            </a:r>
          </a:p>
        </p:txBody>
      </p:sp>
      <p:sp>
        <p:nvSpPr>
          <p:cNvPr id="14" name="Rectangle: Rounded Corners 13">
            <a:extLst>
              <a:ext uri="{FF2B5EF4-FFF2-40B4-BE49-F238E27FC236}">
                <a16:creationId xmlns:a16="http://schemas.microsoft.com/office/drawing/2014/main" id="{B2517A2B-DDD0-DE29-9200-C8748BAC8F6B}"/>
              </a:ext>
            </a:extLst>
          </p:cNvPr>
          <p:cNvSpPr/>
          <p:nvPr/>
        </p:nvSpPr>
        <p:spPr>
          <a:xfrm>
            <a:off x="33782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0D0E591C-639A-2547-1423-26091F9556A3}"/>
              </a:ext>
            </a:extLst>
          </p:cNvPr>
          <p:cNvSpPr/>
          <p:nvPr/>
        </p:nvSpPr>
        <p:spPr>
          <a:xfrm>
            <a:off x="3581400" y="2184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2B921BE4-58B2-88BB-EBD6-21F4C8107C54}"/>
              </a:ext>
            </a:extLst>
          </p:cNvPr>
          <p:cNvSpPr txBox="1"/>
          <p:nvPr/>
        </p:nvSpPr>
        <p:spPr>
          <a:xfrm>
            <a:off x="3581400" y="2311400"/>
            <a:ext cx="215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Execution log</a:t>
            </a:r>
          </a:p>
        </p:txBody>
      </p:sp>
      <p:sp>
        <p:nvSpPr>
          <p:cNvPr id="17" name="TextBox 16">
            <a:extLst>
              <a:ext uri="{FF2B5EF4-FFF2-40B4-BE49-F238E27FC236}">
                <a16:creationId xmlns:a16="http://schemas.microsoft.com/office/drawing/2014/main" id="{9958E091-AC96-A0B6-B1B9-41D4698B3740}"/>
              </a:ext>
            </a:extLst>
          </p:cNvPr>
          <p:cNvSpPr txBox="1"/>
          <p:nvPr/>
        </p:nvSpPr>
        <p:spPr>
          <a:xfrm>
            <a:off x="3581400" y="2692400"/>
            <a:ext cx="2159000" cy="432170"/>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Mencatat siapa, kapan, dan bagaimana test dijalankan.</a:t>
            </a:r>
            <a:endParaRPr lang="id-ID" sz="1130">
              <a:solidFill>
                <a:srgbClr val="243745"/>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198888AF-D696-A8EE-380F-85225E1D3660}"/>
              </a:ext>
            </a:extLst>
          </p:cNvPr>
          <p:cNvSpPr/>
          <p:nvPr/>
        </p:nvSpPr>
        <p:spPr>
          <a:xfrm>
            <a:off x="61468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E074B7E1-2F83-A4B1-D32E-9E7E5C073EF2}"/>
              </a:ext>
            </a:extLst>
          </p:cNvPr>
          <p:cNvSpPr/>
          <p:nvPr/>
        </p:nvSpPr>
        <p:spPr>
          <a:xfrm>
            <a:off x="6350000" y="2184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F878E0BC-705E-9D3C-C66E-A88CB38FC4EA}"/>
              </a:ext>
            </a:extLst>
          </p:cNvPr>
          <p:cNvSpPr txBox="1"/>
          <p:nvPr/>
        </p:nvSpPr>
        <p:spPr>
          <a:xfrm>
            <a:off x="6350000" y="2311400"/>
            <a:ext cx="2159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UAT form</a:t>
            </a:r>
          </a:p>
        </p:txBody>
      </p:sp>
      <p:sp>
        <p:nvSpPr>
          <p:cNvPr id="21" name="TextBox 20">
            <a:extLst>
              <a:ext uri="{FF2B5EF4-FFF2-40B4-BE49-F238E27FC236}">
                <a16:creationId xmlns:a16="http://schemas.microsoft.com/office/drawing/2014/main" id="{42D66D08-C16D-C396-58EE-EE4D766FEBC6}"/>
              </a:ext>
            </a:extLst>
          </p:cNvPr>
          <p:cNvSpPr txBox="1"/>
          <p:nvPr/>
        </p:nvSpPr>
        <p:spPr>
          <a:xfrm>
            <a:off x="6350000" y="2692400"/>
            <a:ext cx="2159000" cy="648254"/>
          </a:xfrm>
          <a:prstGeom prst="rect">
            <a:avLst/>
          </a:prstGeom>
          <a:noFill/>
        </p:spPr>
        <p:txBody>
          <a:bodyPr vert="horz" wrap="square" lIns="0" tIns="0" rIns="0" bIns="0" rtlCol="0">
            <a:noAutofit/>
          </a:bodyPr>
          <a:lstStyle/>
          <a:p>
            <a:r>
              <a:rPr lang="es-ES" sz="1130">
                <a:solidFill>
                  <a:srgbClr val="243745"/>
                </a:solidFill>
                <a:latin typeface="Aptos" panose="020B0004020202020204" pitchFamily="34" charset="0"/>
              </a:rPr>
              <a:t>Bukti penilaian dari evaluator atau calon pengguna.</a:t>
            </a:r>
            <a:endParaRPr lang="id-ID" sz="113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BD292C39-A9CC-D041-500F-1FEFA857EA3D}"/>
              </a:ext>
            </a:extLst>
          </p:cNvPr>
          <p:cNvSpPr/>
          <p:nvPr/>
        </p:nvSpPr>
        <p:spPr>
          <a:xfrm>
            <a:off x="8915400" y="1981200"/>
            <a:ext cx="26670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9A3C791F-608F-E1E2-228F-EEB17A170E53}"/>
              </a:ext>
            </a:extLst>
          </p:cNvPr>
          <p:cNvSpPr/>
          <p:nvPr/>
        </p:nvSpPr>
        <p:spPr>
          <a:xfrm>
            <a:off x="9118600" y="2184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A3BBB0C0-76CD-1236-669D-55F0735062E7}"/>
              </a:ext>
            </a:extLst>
          </p:cNvPr>
          <p:cNvSpPr txBox="1"/>
          <p:nvPr/>
        </p:nvSpPr>
        <p:spPr>
          <a:xfrm>
            <a:off x="9118600" y="2311400"/>
            <a:ext cx="22606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Bug report</a:t>
            </a:r>
          </a:p>
        </p:txBody>
      </p:sp>
      <p:sp>
        <p:nvSpPr>
          <p:cNvPr id="25" name="TextBox 24">
            <a:extLst>
              <a:ext uri="{FF2B5EF4-FFF2-40B4-BE49-F238E27FC236}">
                <a16:creationId xmlns:a16="http://schemas.microsoft.com/office/drawing/2014/main" id="{451B923E-6C14-7EDB-3F11-8033118B90BB}"/>
              </a:ext>
            </a:extLst>
          </p:cNvPr>
          <p:cNvSpPr txBox="1"/>
          <p:nvPr/>
        </p:nvSpPr>
        <p:spPr>
          <a:xfrm>
            <a:off x="9118600" y="2692400"/>
            <a:ext cx="22606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Membuat temuan gagal lebih terstruktur dan bisa ditindaklanjuti.</a:t>
            </a:r>
          </a:p>
        </p:txBody>
      </p:sp>
      <p:sp>
        <p:nvSpPr>
          <p:cNvPr id="26" name="Rectangle: Rounded Corners 25">
            <a:extLst>
              <a:ext uri="{FF2B5EF4-FFF2-40B4-BE49-F238E27FC236}">
                <a16:creationId xmlns:a16="http://schemas.microsoft.com/office/drawing/2014/main" id="{0B4AF846-05DD-6D4F-2B3B-28199920FBE0}"/>
              </a:ext>
            </a:extLst>
          </p:cNvPr>
          <p:cNvSpPr/>
          <p:nvPr/>
        </p:nvSpPr>
        <p:spPr>
          <a:xfrm>
            <a:off x="609600" y="3759200"/>
            <a:ext cx="10972800" cy="1701800"/>
          </a:xfrm>
          <a:prstGeom prst="roundRect">
            <a:avLst>
              <a:gd name="adj" fmla="val 5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TextBox 26">
            <a:extLst>
              <a:ext uri="{FF2B5EF4-FFF2-40B4-BE49-F238E27FC236}">
                <a16:creationId xmlns:a16="http://schemas.microsoft.com/office/drawing/2014/main" id="{289F7E3D-CE50-3DDD-EB3A-E7D8151D6234}"/>
              </a:ext>
            </a:extLst>
          </p:cNvPr>
          <p:cNvSpPr txBox="1"/>
          <p:nvPr/>
        </p:nvSpPr>
        <p:spPr>
          <a:xfrm>
            <a:off x="914400" y="4038600"/>
            <a:ext cx="3175000" cy="432170"/>
          </a:xfrm>
          <a:prstGeom prst="rect">
            <a:avLst/>
          </a:prstGeom>
          <a:noFill/>
        </p:spPr>
        <p:txBody>
          <a:bodyPr vert="horz" wrap="square" lIns="0" tIns="0" rIns="0" bIns="0" rtlCol="0">
            <a:noAutofit/>
          </a:bodyPr>
          <a:lstStyle/>
          <a:p>
            <a:r>
              <a:rPr lang="id-ID" sz="1600" b="1">
                <a:solidFill>
                  <a:srgbClr val="FFFCF8"/>
                </a:solidFill>
                <a:latin typeface="Aptos Display" panose="020B0004020202020204" pitchFamily="34" charset="0"/>
              </a:rPr>
              <a:t>Evidence minimum untuk dibawa saat sidang</a:t>
            </a:r>
          </a:p>
        </p:txBody>
      </p:sp>
      <p:sp>
        <p:nvSpPr>
          <p:cNvPr id="28" name="TextBox 27">
            <a:extLst>
              <a:ext uri="{FF2B5EF4-FFF2-40B4-BE49-F238E27FC236}">
                <a16:creationId xmlns:a16="http://schemas.microsoft.com/office/drawing/2014/main" id="{6EE150D4-626B-0AAD-B7FB-DDB163005E19}"/>
              </a:ext>
            </a:extLst>
          </p:cNvPr>
          <p:cNvSpPr txBox="1"/>
          <p:nvPr/>
        </p:nvSpPr>
        <p:spPr>
          <a:xfrm>
            <a:off x="914400" y="4419600"/>
            <a:ext cx="9956800" cy="1080424"/>
          </a:xfrm>
          <a:prstGeom prst="rect">
            <a:avLst/>
          </a:prstGeom>
          <a:noFill/>
        </p:spPr>
        <p:txBody>
          <a:bodyPr vert="horz" wrap="square" lIns="0" tIns="0" rIns="0" bIns="0" rtlCol="0">
            <a:noAutofit/>
          </a:bodyPr>
          <a:lstStyle/>
          <a:p>
            <a:r>
              <a:rPr lang="id-ID" sz="1100">
                <a:solidFill>
                  <a:srgbClr val="E9DED0"/>
                </a:solidFill>
                <a:latin typeface="Aptos" panose="020B0004020202020204" pitchFamily="34" charset="0"/>
              </a:rPr>
              <a:t>- Screenshot login, katalog, dan WebMap</a:t>
            </a:r>
          </a:p>
          <a:p>
            <a:r>
              <a:rPr lang="id-ID" sz="1100">
                <a:solidFill>
                  <a:srgbClr val="E9DED0"/>
                </a:solidFill>
                <a:latin typeface="Aptos" panose="020B0004020202020204" pitchFamily="34" charset="0"/>
              </a:rPr>
              <a:t>- Output import dari UI dan CLI</a:t>
            </a:r>
          </a:p>
          <a:p>
            <a:r>
              <a:rPr lang="id-ID" sz="1100">
                <a:solidFill>
                  <a:srgbClr val="E9DED0"/>
                </a:solidFill>
                <a:latin typeface="Aptos" panose="020B0004020202020204" pitchFamily="34" charset="0"/>
              </a:rPr>
              <a:t>- File hasil download vector, raster, dan metadata</a:t>
            </a:r>
          </a:p>
          <a:p>
            <a:r>
              <a:rPr lang="id-ID" sz="1100">
                <a:solidFill>
                  <a:srgbClr val="E9DED0"/>
                </a:solidFill>
                <a:latin typeface="Aptos" panose="020B0004020202020204" pitchFamily="34" charset="0"/>
              </a:rPr>
              <a:t>- Query validasi table point, raster, dan metadata</a:t>
            </a:r>
          </a:p>
          <a:p>
            <a:r>
              <a:rPr lang="id-ID" sz="1100">
                <a:solidFill>
                  <a:srgbClr val="E9DED0"/>
                </a:solidFill>
                <a:latin typeface="Aptos" panose="020B0004020202020204" pitchFamily="34" charset="0"/>
              </a:rPr>
              <a:t>- Rekap pass rate, defect, dan UAT</a:t>
            </a:r>
          </a:p>
        </p:txBody>
      </p:sp>
      <p:cxnSp>
        <p:nvCxnSpPr>
          <p:cNvPr id="29" name="Straight Connector 28">
            <a:extLst>
              <a:ext uri="{FF2B5EF4-FFF2-40B4-BE49-F238E27FC236}">
                <a16:creationId xmlns:a16="http://schemas.microsoft.com/office/drawing/2014/main" id="{8C57F4EE-89AD-0310-09DD-387A783BB2AD}"/>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28153E22-0A12-5F7E-FA07-BC9112CAD2E3}"/>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1" name="TextBox 30">
            <a:extLst>
              <a:ext uri="{FF2B5EF4-FFF2-40B4-BE49-F238E27FC236}">
                <a16:creationId xmlns:a16="http://schemas.microsoft.com/office/drawing/2014/main" id="{CA92E861-BCA4-1A70-0F91-40C0EC35A9DE}"/>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16</a:t>
            </a:r>
          </a:p>
        </p:txBody>
      </p:sp>
    </p:spTree>
    <p:extLst>
      <p:ext uri="{BB962C8B-B14F-4D97-AF65-F5344CB8AC3E}">
        <p14:creationId xmlns:p14="http://schemas.microsoft.com/office/powerpoint/2010/main" val="2625505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896841-B604-3048-BA83-24A45A004077}"/>
              </a:ext>
            </a:extLst>
          </p:cNvPr>
          <p:cNvSpPr/>
          <p:nvPr/>
        </p:nvSpPr>
        <p:spPr>
          <a:xfrm>
            <a:off x="0" y="0"/>
            <a:ext cx="228600" cy="5715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C2D7F7A1-A232-D6D1-6A22-37F3C4E7FD92}"/>
              </a:ext>
            </a:extLst>
          </p:cNvPr>
          <p:cNvSpPr/>
          <p:nvPr/>
        </p:nvSpPr>
        <p:spPr>
          <a:xfrm>
            <a:off x="-1397000" y="3429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D093D8F9-F937-2B57-36ED-3722721A6CB4}"/>
              </a:ext>
            </a:extLst>
          </p:cNvPr>
          <p:cNvSpPr/>
          <p:nvPr/>
        </p:nvSpPr>
        <p:spPr>
          <a:xfrm>
            <a:off x="5969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88C36844-87BF-A0B1-0C2F-C8BEB25FA224}"/>
              </a:ext>
            </a:extLst>
          </p:cNvPr>
          <p:cNvSpPr/>
          <p:nvPr/>
        </p:nvSpPr>
        <p:spPr>
          <a:xfrm>
            <a:off x="0" y="0"/>
            <a:ext cx="9144000" cy="5715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CFB84DE5-C010-62A8-3082-D98243E4A13E}"/>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05739BFE-AA9F-A000-F478-299FB2F3975E}"/>
              </a:ext>
            </a:extLst>
          </p:cNvPr>
          <p:cNvSpPr txBox="1"/>
          <p:nvPr/>
        </p:nvSpPr>
        <p:spPr>
          <a:xfrm>
            <a:off x="736600" y="431800"/>
            <a:ext cx="1422400" cy="216085"/>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Discussion</a:t>
            </a:r>
          </a:p>
        </p:txBody>
      </p:sp>
      <p:sp>
        <p:nvSpPr>
          <p:cNvPr id="8" name="TextBox 7">
            <a:extLst>
              <a:ext uri="{FF2B5EF4-FFF2-40B4-BE49-F238E27FC236}">
                <a16:creationId xmlns:a16="http://schemas.microsoft.com/office/drawing/2014/main" id="{512DA41D-A302-24F7-7008-5B260DE1EEEC}"/>
              </a:ext>
            </a:extLst>
          </p:cNvPr>
          <p:cNvSpPr txBox="1"/>
          <p:nvPr/>
        </p:nvSpPr>
        <p:spPr>
          <a:xfrm>
            <a:off x="609600" y="863600"/>
            <a:ext cx="9779000" cy="216085"/>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Poin yang baik untuk dibahas dengan pembimbing</a:t>
            </a:r>
          </a:p>
        </p:txBody>
      </p:sp>
      <p:sp>
        <p:nvSpPr>
          <p:cNvPr id="9" name="TextBox 8">
            <a:extLst>
              <a:ext uri="{FF2B5EF4-FFF2-40B4-BE49-F238E27FC236}">
                <a16:creationId xmlns:a16="http://schemas.microsoft.com/office/drawing/2014/main" id="{30CE3167-7331-FDA4-0AE6-FC66B6CBCFF3}"/>
              </a:ext>
            </a:extLst>
          </p:cNvPr>
          <p:cNvSpPr txBox="1"/>
          <p:nvPr/>
        </p:nvSpPr>
        <p:spPr>
          <a:xfrm>
            <a:off x="609600" y="1371600"/>
            <a:ext cx="10414000" cy="216085"/>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Temuan seperti ini justru membantu menunjukkan bahwa Anda memahami kondisi sistem dan batas pengujian yang realistis.</a:t>
            </a:r>
          </a:p>
        </p:txBody>
      </p:sp>
      <p:sp>
        <p:nvSpPr>
          <p:cNvPr id="10" name="Rectangle: Rounded Corners 9">
            <a:extLst>
              <a:ext uri="{FF2B5EF4-FFF2-40B4-BE49-F238E27FC236}">
                <a16:creationId xmlns:a16="http://schemas.microsoft.com/office/drawing/2014/main" id="{40710392-40B0-EF86-4897-CAEBAE640B7B}"/>
              </a:ext>
            </a:extLst>
          </p:cNvPr>
          <p:cNvSpPr/>
          <p:nvPr/>
        </p:nvSpPr>
        <p:spPr>
          <a:xfrm>
            <a:off x="6096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E7C142CC-B363-ECF7-E1B4-0B17D9304F24}"/>
              </a:ext>
            </a:extLst>
          </p:cNvPr>
          <p:cNvSpPr/>
          <p:nvPr/>
        </p:nvSpPr>
        <p:spPr>
          <a:xfrm>
            <a:off x="812800" y="2184400"/>
            <a:ext cx="482600" cy="63500"/>
          </a:xfrm>
          <a:prstGeom prst="rect">
            <a:avLst/>
          </a:prstGeom>
          <a:solidFill>
            <a:srgbClr val="A14A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7C2B67EF-FE6E-85C6-024A-65308C0BEF41}"/>
              </a:ext>
            </a:extLst>
          </p:cNvPr>
          <p:cNvSpPr txBox="1"/>
          <p:nvPr/>
        </p:nvSpPr>
        <p:spPr>
          <a:xfrm>
            <a:off x="812800" y="2311400"/>
            <a:ext cx="3048000" cy="216085"/>
          </a:xfrm>
          <a:prstGeom prst="rect">
            <a:avLst/>
          </a:prstGeom>
          <a:noFill/>
        </p:spPr>
        <p:txBody>
          <a:bodyPr vert="horz" wrap="square" lIns="0" tIns="0" rIns="0" bIns="0" rtlCol="0">
            <a:noAutofit/>
          </a:bodyPr>
          <a:lstStyle/>
          <a:p>
            <a:r>
              <a:rPr lang="id-ID" sz="1550" b="1">
                <a:solidFill>
                  <a:srgbClr val="A14A3B"/>
                </a:solidFill>
                <a:latin typeface="Aptos Display" panose="020B0004020202020204" pitchFamily="34" charset="0"/>
              </a:rPr>
              <a:t>Metadata manual belum persisten</a:t>
            </a:r>
          </a:p>
        </p:txBody>
      </p:sp>
      <p:sp>
        <p:nvSpPr>
          <p:cNvPr id="13" name="TextBox 12">
            <a:extLst>
              <a:ext uri="{FF2B5EF4-FFF2-40B4-BE49-F238E27FC236}">
                <a16:creationId xmlns:a16="http://schemas.microsoft.com/office/drawing/2014/main" id="{5BE1FBBE-B283-2C27-0CC4-04AB971C6D24}"/>
              </a:ext>
            </a:extLst>
          </p:cNvPr>
          <p:cNvSpPr txBox="1"/>
          <p:nvPr/>
        </p:nvSpPr>
        <p:spPr>
          <a:xfrm>
            <a:off x="812800" y="2692400"/>
            <a:ext cx="3048000" cy="864339"/>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Form metadata saat ini memvalidasi input dan menampilkan pesan sukses, tetapi belum menyimpan input manual ke tabel metadata.</a:t>
            </a:r>
            <a:endParaRPr lang="id-ID" sz="1130">
              <a:solidFill>
                <a:srgbClr val="243745"/>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D4CDA592-5365-094C-19BC-A8ADE5DCD782}"/>
              </a:ext>
            </a:extLst>
          </p:cNvPr>
          <p:cNvSpPr/>
          <p:nvPr/>
        </p:nvSpPr>
        <p:spPr>
          <a:xfrm>
            <a:off x="43688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746CCE8-4754-7520-9B07-9C755C01F546}"/>
              </a:ext>
            </a:extLst>
          </p:cNvPr>
          <p:cNvSpPr/>
          <p:nvPr/>
        </p:nvSpPr>
        <p:spPr>
          <a:xfrm>
            <a:off x="4572000" y="2184400"/>
            <a:ext cx="482600" cy="63500"/>
          </a:xfrm>
          <a:prstGeom prst="rect">
            <a:avLst/>
          </a:prstGeom>
          <a:solidFill>
            <a:srgbClr val="A14A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DEC571C7-AEC2-92B6-362B-47D3865880F4}"/>
              </a:ext>
            </a:extLst>
          </p:cNvPr>
          <p:cNvSpPr txBox="1"/>
          <p:nvPr/>
        </p:nvSpPr>
        <p:spPr>
          <a:xfrm>
            <a:off x="4572000" y="2311400"/>
            <a:ext cx="3048000" cy="216085"/>
          </a:xfrm>
          <a:prstGeom prst="rect">
            <a:avLst/>
          </a:prstGeom>
          <a:noFill/>
        </p:spPr>
        <p:txBody>
          <a:bodyPr vert="horz" wrap="square" lIns="0" tIns="0" rIns="0" bIns="0" rtlCol="0">
            <a:noAutofit/>
          </a:bodyPr>
          <a:lstStyle/>
          <a:p>
            <a:r>
              <a:rPr lang="id-ID" sz="1550" b="1">
                <a:solidFill>
                  <a:srgbClr val="A14A3B"/>
                </a:solidFill>
                <a:latin typeface="Aptos Display" panose="020B0004020202020204" pitchFamily="34" charset="0"/>
              </a:rPr>
              <a:t>Delete dataset masih placeholder</a:t>
            </a:r>
          </a:p>
        </p:txBody>
      </p:sp>
      <p:sp>
        <p:nvSpPr>
          <p:cNvPr id="17" name="TextBox 16">
            <a:extLst>
              <a:ext uri="{FF2B5EF4-FFF2-40B4-BE49-F238E27FC236}">
                <a16:creationId xmlns:a16="http://schemas.microsoft.com/office/drawing/2014/main" id="{A202DE7E-4838-7762-8A61-4753EFE13CDE}"/>
              </a:ext>
            </a:extLst>
          </p:cNvPr>
          <p:cNvSpPr txBox="1"/>
          <p:nvPr/>
        </p:nvSpPr>
        <p:spPr>
          <a:xfrm>
            <a:off x="4572000" y="2692400"/>
            <a:ext cx="3048000" cy="864339"/>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Endpoint delete pada area admin sudah ada, tetapi logika implementasinya masih TODO sehingga belum menjadi fitur final.</a:t>
            </a:r>
          </a:p>
        </p:txBody>
      </p:sp>
      <p:sp>
        <p:nvSpPr>
          <p:cNvPr id="18" name="Rectangle: Rounded Corners 17">
            <a:extLst>
              <a:ext uri="{FF2B5EF4-FFF2-40B4-BE49-F238E27FC236}">
                <a16:creationId xmlns:a16="http://schemas.microsoft.com/office/drawing/2014/main" id="{E38C07FE-9012-604F-3757-377119F0D8FA}"/>
              </a:ext>
            </a:extLst>
          </p:cNvPr>
          <p:cNvSpPr/>
          <p:nvPr/>
        </p:nvSpPr>
        <p:spPr>
          <a:xfrm>
            <a:off x="81280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9F00E0AD-86C6-DF2F-13AD-38E7AE8D86A1}"/>
              </a:ext>
            </a:extLst>
          </p:cNvPr>
          <p:cNvSpPr/>
          <p:nvPr/>
        </p:nvSpPr>
        <p:spPr>
          <a:xfrm>
            <a:off x="83312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B3486888-D07F-BAAD-240C-C7C14F140B27}"/>
              </a:ext>
            </a:extLst>
          </p:cNvPr>
          <p:cNvSpPr txBox="1"/>
          <p:nvPr/>
        </p:nvSpPr>
        <p:spPr>
          <a:xfrm>
            <a:off x="8331200" y="2311400"/>
            <a:ext cx="3048000" cy="432170"/>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Geocoder bergantung layanan eksternal</a:t>
            </a:r>
          </a:p>
        </p:txBody>
      </p:sp>
      <p:sp>
        <p:nvSpPr>
          <p:cNvPr id="21" name="TextBox 20">
            <a:extLst>
              <a:ext uri="{FF2B5EF4-FFF2-40B4-BE49-F238E27FC236}">
                <a16:creationId xmlns:a16="http://schemas.microsoft.com/office/drawing/2014/main" id="{E9618036-0858-03E4-DF91-059353310C5B}"/>
              </a:ext>
            </a:extLst>
          </p:cNvPr>
          <p:cNvSpPr txBox="1"/>
          <p:nvPr/>
        </p:nvSpPr>
        <p:spPr>
          <a:xfrm>
            <a:off x="8331200" y="2692400"/>
            <a:ext cx="30480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Pencarian lokasi di WebMap memakai layanan eksternal sehingga hasil uji bisa dipengaruhi konektivitas internet.</a:t>
            </a:r>
          </a:p>
        </p:txBody>
      </p:sp>
      <p:sp>
        <p:nvSpPr>
          <p:cNvPr id="22" name="Rectangle: Rounded Corners 21">
            <a:extLst>
              <a:ext uri="{FF2B5EF4-FFF2-40B4-BE49-F238E27FC236}">
                <a16:creationId xmlns:a16="http://schemas.microsoft.com/office/drawing/2014/main" id="{462A2901-1092-0256-989A-5605AE0D56D0}"/>
              </a:ext>
            </a:extLst>
          </p:cNvPr>
          <p:cNvSpPr/>
          <p:nvPr/>
        </p:nvSpPr>
        <p:spPr>
          <a:xfrm>
            <a:off x="2489200" y="4140200"/>
            <a:ext cx="3454400" cy="1524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E5AD2916-878D-251C-27E8-8AA1A0227B5F}"/>
              </a:ext>
            </a:extLst>
          </p:cNvPr>
          <p:cNvSpPr/>
          <p:nvPr/>
        </p:nvSpPr>
        <p:spPr>
          <a:xfrm>
            <a:off x="2692400" y="4343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4A8B80B3-973A-7391-E645-EAF9FC4EF784}"/>
              </a:ext>
            </a:extLst>
          </p:cNvPr>
          <p:cNvSpPr txBox="1"/>
          <p:nvPr/>
        </p:nvSpPr>
        <p:spPr>
          <a:xfrm>
            <a:off x="2692400" y="44704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PHPUnit belum langsung siap</a:t>
            </a:r>
          </a:p>
        </p:txBody>
      </p:sp>
      <p:sp>
        <p:nvSpPr>
          <p:cNvPr id="25" name="TextBox 24">
            <a:extLst>
              <a:ext uri="{FF2B5EF4-FFF2-40B4-BE49-F238E27FC236}">
                <a16:creationId xmlns:a16="http://schemas.microsoft.com/office/drawing/2014/main" id="{E04B443E-3B35-A093-3881-91E061237B57}"/>
              </a:ext>
            </a:extLst>
          </p:cNvPr>
          <p:cNvSpPr txBox="1"/>
          <p:nvPr/>
        </p:nvSpPr>
        <p:spPr>
          <a:xfrm>
            <a:off x="2692400" y="4851400"/>
            <a:ext cx="30480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Dependency test ada di composer, tetapi runner belum tersedia di vendor pada checkout aktif.</a:t>
            </a:r>
          </a:p>
        </p:txBody>
      </p:sp>
      <p:sp>
        <p:nvSpPr>
          <p:cNvPr id="26" name="Rectangle: Rounded Corners 25">
            <a:extLst>
              <a:ext uri="{FF2B5EF4-FFF2-40B4-BE49-F238E27FC236}">
                <a16:creationId xmlns:a16="http://schemas.microsoft.com/office/drawing/2014/main" id="{56FDB6D4-92C7-189B-8455-2892B202501A}"/>
              </a:ext>
            </a:extLst>
          </p:cNvPr>
          <p:cNvSpPr/>
          <p:nvPr/>
        </p:nvSpPr>
        <p:spPr>
          <a:xfrm>
            <a:off x="6248400" y="4140200"/>
            <a:ext cx="3454400" cy="1524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FB9B62BC-ECAC-DBA9-50A6-13B39E55B865}"/>
              </a:ext>
            </a:extLst>
          </p:cNvPr>
          <p:cNvSpPr/>
          <p:nvPr/>
        </p:nvSpPr>
        <p:spPr>
          <a:xfrm>
            <a:off x="6451600" y="4343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2645D65E-5245-23FD-1CA0-B5874E92FB64}"/>
              </a:ext>
            </a:extLst>
          </p:cNvPr>
          <p:cNvSpPr txBox="1"/>
          <p:nvPr/>
        </p:nvSpPr>
        <p:spPr>
          <a:xfrm>
            <a:off x="6451600" y="4470400"/>
            <a:ext cx="30480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Posisi di sidang</a:t>
            </a:r>
          </a:p>
        </p:txBody>
      </p:sp>
      <p:sp>
        <p:nvSpPr>
          <p:cNvPr id="29" name="TextBox 28">
            <a:extLst>
              <a:ext uri="{FF2B5EF4-FFF2-40B4-BE49-F238E27FC236}">
                <a16:creationId xmlns:a16="http://schemas.microsoft.com/office/drawing/2014/main" id="{D041DCCF-F7C7-8006-1816-465FCF60A7DE}"/>
              </a:ext>
            </a:extLst>
          </p:cNvPr>
          <p:cNvSpPr txBox="1"/>
          <p:nvPr/>
        </p:nvSpPr>
        <p:spPr>
          <a:xfrm>
            <a:off x="6451600" y="4851400"/>
            <a:ext cx="30480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Sampaikan poin ini sebagai ruang pengembangan dan hasil evaluasi mutu, bukan sekadar kekurangan.</a:t>
            </a:r>
          </a:p>
        </p:txBody>
      </p:sp>
      <p:cxnSp>
        <p:nvCxnSpPr>
          <p:cNvPr id="30" name="Straight Connector 29">
            <a:extLst>
              <a:ext uri="{FF2B5EF4-FFF2-40B4-BE49-F238E27FC236}">
                <a16:creationId xmlns:a16="http://schemas.microsoft.com/office/drawing/2014/main" id="{F0DBC252-6909-4E19-C62F-4E93F0866CDD}"/>
              </a:ext>
            </a:extLst>
          </p:cNvPr>
          <p:cNvCxnSpPr/>
          <p:nvPr/>
        </p:nvCxnSpPr>
        <p:spPr>
          <a:xfrm>
            <a:off x="558800" y="5359400"/>
            <a:ext cx="8026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5C2A025-31BF-96E7-D84A-5C46654F29B3}"/>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BA62022C-8AD1-1C33-7791-E2F8E913EB44}"/>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17</a:t>
            </a:r>
          </a:p>
        </p:txBody>
      </p:sp>
    </p:spTree>
    <p:extLst>
      <p:ext uri="{BB962C8B-B14F-4D97-AF65-F5344CB8AC3E}">
        <p14:creationId xmlns:p14="http://schemas.microsoft.com/office/powerpoint/2010/main" val="1044352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C95224F-884E-094E-A120-D85D6490F952}"/>
              </a:ext>
            </a:extLst>
          </p:cNvPr>
          <p:cNvSpPr/>
          <p:nvPr/>
        </p:nvSpPr>
        <p:spPr>
          <a:xfrm rot="-1080000">
            <a:off x="-889000" y="3810000"/>
            <a:ext cx="3302000" cy="2286000"/>
          </a:xfrm>
          <a:prstGeom prst="roundRect">
            <a:avLst>
              <a:gd name="adj" fmla="val 7000"/>
            </a:avLst>
          </a:prstGeom>
          <a:solidFill>
            <a:srgbClr val="B86A2D">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0E7FF737-90A5-8FC6-603D-CA141290B377}"/>
              </a:ext>
            </a:extLst>
          </p:cNvPr>
          <p:cNvSpPr/>
          <p:nvPr/>
        </p:nvSpPr>
        <p:spPr>
          <a:xfrm rot="960000">
            <a:off x="5334000" y="-889000"/>
            <a:ext cx="4445000" cy="2794000"/>
          </a:xfrm>
          <a:prstGeom prst="roundRect">
            <a:avLst>
              <a:gd name="adj" fmla="val 6000"/>
            </a:avLst>
          </a:prstGeom>
          <a:solidFill>
            <a:srgbClr val="1E7C74">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61B0D278-BD50-DB96-6145-70ABFDE29D08}"/>
              </a:ext>
            </a:extLst>
          </p:cNvPr>
          <p:cNvSpPr/>
          <p:nvPr/>
        </p:nvSpPr>
        <p:spPr>
          <a:xfrm>
            <a:off x="0" y="0"/>
            <a:ext cx="9144000" cy="5715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05D563A6-2781-2C2D-2AFD-74CDF52C77D4}"/>
              </a:ext>
            </a:extLst>
          </p:cNvPr>
          <p:cNvSpPr txBox="1"/>
          <p:nvPr/>
        </p:nvSpPr>
        <p:spPr>
          <a:xfrm>
            <a:off x="736600" y="685800"/>
            <a:ext cx="1524000" cy="216085"/>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Kesimpulan</a:t>
            </a:r>
          </a:p>
        </p:txBody>
      </p:sp>
      <p:sp>
        <p:nvSpPr>
          <p:cNvPr id="6" name="TextBox 5">
            <a:extLst>
              <a:ext uri="{FF2B5EF4-FFF2-40B4-BE49-F238E27FC236}">
                <a16:creationId xmlns:a16="http://schemas.microsoft.com/office/drawing/2014/main" id="{8D17672C-2CDE-C4E0-8E4F-45B7AE3E4742}"/>
              </a:ext>
            </a:extLst>
          </p:cNvPr>
          <p:cNvSpPr txBox="1"/>
          <p:nvPr/>
        </p:nvSpPr>
        <p:spPr>
          <a:xfrm>
            <a:off x="736600" y="1371600"/>
            <a:ext cx="6858000" cy="432170"/>
          </a:xfrm>
          <a:prstGeom prst="rect">
            <a:avLst/>
          </a:prstGeom>
          <a:noFill/>
        </p:spPr>
        <p:txBody>
          <a:bodyPr vert="horz" wrap="square" lIns="0" tIns="0" rIns="0" bIns="0" rtlCol="0">
            <a:noAutofit/>
          </a:bodyPr>
          <a:lstStyle/>
          <a:p>
            <a:r>
              <a:rPr lang="id-ID" sz="2800" b="1">
                <a:solidFill>
                  <a:srgbClr val="FFFCF8"/>
                </a:solidFill>
                <a:latin typeface="Georgia" panose="02040502050405020303" pitchFamily="18" charset="0"/>
              </a:rPr>
              <a:t>Presentasi pengujian akan lebih kuat bila membahas metode, alur, pihak, evidence, dan gap sistem secara utuh.</a:t>
            </a:r>
          </a:p>
        </p:txBody>
      </p:sp>
      <p:sp>
        <p:nvSpPr>
          <p:cNvPr id="7" name="Rectangle: Rounded Corners 6">
            <a:extLst>
              <a:ext uri="{FF2B5EF4-FFF2-40B4-BE49-F238E27FC236}">
                <a16:creationId xmlns:a16="http://schemas.microsoft.com/office/drawing/2014/main" id="{F2A19C23-496E-D78C-D686-99E0C5E500D5}"/>
              </a:ext>
            </a:extLst>
          </p:cNvPr>
          <p:cNvSpPr/>
          <p:nvPr/>
        </p:nvSpPr>
        <p:spPr>
          <a:xfrm>
            <a:off x="7366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14E61CAA-8C7C-3F19-7E85-81AED4AA29CD}"/>
              </a:ext>
            </a:extLst>
          </p:cNvPr>
          <p:cNvSpPr/>
          <p:nvPr/>
        </p:nvSpPr>
        <p:spPr>
          <a:xfrm>
            <a:off x="939800" y="30226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10D5638E-FF84-CBFC-BEDA-6E346D20C688}"/>
              </a:ext>
            </a:extLst>
          </p:cNvPr>
          <p:cNvSpPr txBox="1"/>
          <p:nvPr/>
        </p:nvSpPr>
        <p:spPr>
          <a:xfrm>
            <a:off x="939800" y="3149600"/>
            <a:ext cx="27432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Bawa deck ini ke pembimbing</a:t>
            </a:r>
          </a:p>
        </p:txBody>
      </p:sp>
      <p:sp>
        <p:nvSpPr>
          <p:cNvPr id="10" name="TextBox 9">
            <a:extLst>
              <a:ext uri="{FF2B5EF4-FFF2-40B4-BE49-F238E27FC236}">
                <a16:creationId xmlns:a16="http://schemas.microsoft.com/office/drawing/2014/main" id="{5B679713-3731-A35F-91DD-06A125FE317C}"/>
              </a:ext>
            </a:extLst>
          </p:cNvPr>
          <p:cNvSpPr txBox="1"/>
          <p:nvPr/>
        </p:nvSpPr>
        <p:spPr>
          <a:xfrm>
            <a:off x="939800" y="3530600"/>
            <a:ext cx="2743200" cy="648254"/>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Gunakan untuk menyamakan scope metode yang ingin Anda jalankan.</a:t>
            </a:r>
          </a:p>
        </p:txBody>
      </p:sp>
      <p:sp>
        <p:nvSpPr>
          <p:cNvPr id="11" name="Rectangle: Rounded Corners 10">
            <a:extLst>
              <a:ext uri="{FF2B5EF4-FFF2-40B4-BE49-F238E27FC236}">
                <a16:creationId xmlns:a16="http://schemas.microsoft.com/office/drawing/2014/main" id="{67104FC2-7A22-9E8E-914D-950BA004A221}"/>
              </a:ext>
            </a:extLst>
          </p:cNvPr>
          <p:cNvSpPr/>
          <p:nvPr/>
        </p:nvSpPr>
        <p:spPr>
          <a:xfrm>
            <a:off x="42164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5422A230-C0E6-2A05-EB87-E1D13C767C92}"/>
              </a:ext>
            </a:extLst>
          </p:cNvPr>
          <p:cNvSpPr/>
          <p:nvPr/>
        </p:nvSpPr>
        <p:spPr>
          <a:xfrm>
            <a:off x="4419600" y="30226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TextBox 12">
            <a:extLst>
              <a:ext uri="{FF2B5EF4-FFF2-40B4-BE49-F238E27FC236}">
                <a16:creationId xmlns:a16="http://schemas.microsoft.com/office/drawing/2014/main" id="{DEC6F52C-6D8C-BA70-1692-80E9192DCE10}"/>
              </a:ext>
            </a:extLst>
          </p:cNvPr>
          <p:cNvSpPr txBox="1"/>
          <p:nvPr/>
        </p:nvSpPr>
        <p:spPr>
          <a:xfrm>
            <a:off x="4419600" y="3149600"/>
            <a:ext cx="27432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Jalankan template pengujian</a:t>
            </a:r>
          </a:p>
        </p:txBody>
      </p:sp>
      <p:sp>
        <p:nvSpPr>
          <p:cNvPr id="14" name="TextBox 13">
            <a:extLst>
              <a:ext uri="{FF2B5EF4-FFF2-40B4-BE49-F238E27FC236}">
                <a16:creationId xmlns:a16="http://schemas.microsoft.com/office/drawing/2014/main" id="{E637B425-A8DD-F06A-26BE-7BA670D2ACB0}"/>
              </a:ext>
            </a:extLst>
          </p:cNvPr>
          <p:cNvSpPr txBox="1"/>
          <p:nvPr/>
        </p:nvSpPr>
        <p:spPr>
          <a:xfrm>
            <a:off x="4419600" y="3530600"/>
            <a:ext cx="27432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Eksekusi test case, isi form UAT, dan kumpulkan evidence.</a:t>
            </a:r>
          </a:p>
        </p:txBody>
      </p:sp>
      <p:sp>
        <p:nvSpPr>
          <p:cNvPr id="15" name="Rectangle: Rounded Corners 14">
            <a:extLst>
              <a:ext uri="{FF2B5EF4-FFF2-40B4-BE49-F238E27FC236}">
                <a16:creationId xmlns:a16="http://schemas.microsoft.com/office/drawing/2014/main" id="{CCF10869-AF7B-96B7-D669-CC94EF8821F4}"/>
              </a:ext>
            </a:extLst>
          </p:cNvPr>
          <p:cNvSpPr/>
          <p:nvPr/>
        </p:nvSpPr>
        <p:spPr>
          <a:xfrm>
            <a:off x="76962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D985FFFE-447D-A75E-126F-B1CE4201E3BA}"/>
              </a:ext>
            </a:extLst>
          </p:cNvPr>
          <p:cNvSpPr/>
          <p:nvPr/>
        </p:nvSpPr>
        <p:spPr>
          <a:xfrm>
            <a:off x="7899400" y="30226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Box 16">
            <a:extLst>
              <a:ext uri="{FF2B5EF4-FFF2-40B4-BE49-F238E27FC236}">
                <a16:creationId xmlns:a16="http://schemas.microsoft.com/office/drawing/2014/main" id="{3CCA21DF-A91C-4EE2-FD0B-6C60BEE69752}"/>
              </a:ext>
            </a:extLst>
          </p:cNvPr>
          <p:cNvSpPr txBox="1"/>
          <p:nvPr/>
        </p:nvSpPr>
        <p:spPr>
          <a:xfrm>
            <a:off x="7899400" y="3149600"/>
            <a:ext cx="2743200" cy="216085"/>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Ubah hasil jadi bab laporan</a:t>
            </a:r>
          </a:p>
        </p:txBody>
      </p:sp>
      <p:sp>
        <p:nvSpPr>
          <p:cNvPr id="18" name="TextBox 17">
            <a:extLst>
              <a:ext uri="{FF2B5EF4-FFF2-40B4-BE49-F238E27FC236}">
                <a16:creationId xmlns:a16="http://schemas.microsoft.com/office/drawing/2014/main" id="{90D11448-A51D-8DED-3BF4-48138ED9D384}"/>
              </a:ext>
            </a:extLst>
          </p:cNvPr>
          <p:cNvSpPr txBox="1"/>
          <p:nvPr/>
        </p:nvSpPr>
        <p:spPr>
          <a:xfrm>
            <a:off x="7899400" y="3530600"/>
            <a:ext cx="2743200" cy="432170"/>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Ringkas pass rate, defect, UAT, dan rekomendasi pengembangan.</a:t>
            </a:r>
          </a:p>
        </p:txBody>
      </p:sp>
      <p:sp>
        <p:nvSpPr>
          <p:cNvPr id="19" name="Rectangle: Rounded Corners 18">
            <a:extLst>
              <a:ext uri="{FF2B5EF4-FFF2-40B4-BE49-F238E27FC236}">
                <a16:creationId xmlns:a16="http://schemas.microsoft.com/office/drawing/2014/main" id="{A9012040-08DE-9A36-EDBF-0C0F1A93F875}"/>
              </a:ext>
            </a:extLst>
          </p:cNvPr>
          <p:cNvSpPr/>
          <p:nvPr/>
        </p:nvSpPr>
        <p:spPr>
          <a:xfrm>
            <a:off x="736600" y="4724400"/>
            <a:ext cx="10109200" cy="939800"/>
          </a:xfrm>
          <a:prstGeom prst="roundRect">
            <a:avLst>
              <a:gd name="adj" fmla="val 5000"/>
            </a:avLst>
          </a:prstGeom>
          <a:solidFill>
            <a:srgbClr val="F0E2D1">
              <a:alpha val="9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1953FC78-CD17-7376-DCE3-99795C2005CE}"/>
              </a:ext>
            </a:extLst>
          </p:cNvPr>
          <p:cNvSpPr txBox="1"/>
          <p:nvPr/>
        </p:nvSpPr>
        <p:spPr>
          <a:xfrm>
            <a:off x="1041400" y="4978400"/>
            <a:ext cx="8255000" cy="432170"/>
          </a:xfrm>
          <a:prstGeom prst="rect">
            <a:avLst/>
          </a:prstGeom>
          <a:noFill/>
        </p:spPr>
        <p:txBody>
          <a:bodyPr vert="horz" wrap="square" lIns="0" tIns="0" rIns="0" bIns="0" rtlCol="0">
            <a:noAutofit/>
          </a:bodyPr>
          <a:lstStyle/>
          <a:p>
            <a:r>
              <a:rPr lang="id-ID" sz="1200">
                <a:solidFill>
                  <a:srgbClr val="13293D"/>
                </a:solidFill>
                <a:latin typeface="Aptos" panose="020B0004020202020204" pitchFamily="34" charset="0"/>
              </a:rPr>
              <a:t>Output file: docs/testing/geoportal-testing-capstone-presentation.pptx dan .pdf</a:t>
            </a:r>
          </a:p>
          <a:p>
            <a:r>
              <a:rPr lang="id-ID" sz="1200">
                <a:solidFill>
                  <a:srgbClr val="13293D"/>
                </a:solidFill>
                <a:latin typeface="Aptos" panose="020B0004020202020204" pitchFamily="34" charset="0"/>
              </a:rPr>
              <a:t>Generator: docs/testing/generate-geoportal-testing-presentation.ps1</a:t>
            </a:r>
          </a:p>
        </p:txBody>
      </p:sp>
      <p:cxnSp>
        <p:nvCxnSpPr>
          <p:cNvPr id="21" name="Straight Connector 20">
            <a:extLst>
              <a:ext uri="{FF2B5EF4-FFF2-40B4-BE49-F238E27FC236}">
                <a16:creationId xmlns:a16="http://schemas.microsoft.com/office/drawing/2014/main" id="{D0E65B1A-03D8-A65C-EA67-7030F8555E6A}"/>
              </a:ext>
            </a:extLst>
          </p:cNvPr>
          <p:cNvCxnSpPr/>
          <p:nvPr/>
        </p:nvCxnSpPr>
        <p:spPr>
          <a:xfrm>
            <a:off x="558800" y="5359400"/>
            <a:ext cx="8026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F5AC2E9C-2BD6-AA65-2B5D-AECE50AD302D}"/>
              </a:ext>
            </a:extLst>
          </p:cNvPr>
          <p:cNvSpPr txBox="1"/>
          <p:nvPr/>
        </p:nvSpPr>
        <p:spPr>
          <a:xfrm>
            <a:off x="558800" y="5410200"/>
            <a:ext cx="3429000" cy="216085"/>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23" name="TextBox 22">
            <a:extLst>
              <a:ext uri="{FF2B5EF4-FFF2-40B4-BE49-F238E27FC236}">
                <a16:creationId xmlns:a16="http://schemas.microsoft.com/office/drawing/2014/main" id="{8A6B27B6-0D00-BC06-F377-3CC1B77E2E48}"/>
              </a:ext>
            </a:extLst>
          </p:cNvPr>
          <p:cNvSpPr txBox="1"/>
          <p:nvPr/>
        </p:nvSpPr>
        <p:spPr>
          <a:xfrm>
            <a:off x="8153400" y="5384800"/>
            <a:ext cx="431800" cy="216085"/>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18</a:t>
            </a:r>
          </a:p>
        </p:txBody>
      </p:sp>
    </p:spTree>
    <p:extLst>
      <p:ext uri="{BB962C8B-B14F-4D97-AF65-F5344CB8AC3E}">
        <p14:creationId xmlns:p14="http://schemas.microsoft.com/office/powerpoint/2010/main" val="2679606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2891</Words>
  <Application>Microsoft Office PowerPoint</Application>
  <PresentationFormat>On-screen Show (16:10)</PresentationFormat>
  <Paragraphs>398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Darren Avram P S</dc:creator>
  <cp:lastModifiedBy>Darren Avram P S</cp:lastModifiedBy>
  <cp:revision>1</cp:revision>
  <dcterms:created xsi:type="dcterms:W3CDTF">2026-05-07T00:38:45Z</dcterms:created>
  <dcterms:modified xsi:type="dcterms:W3CDTF">2026-05-07T00:38:45Z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2026-05-07T00:38:45Z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b97dce4d-1bd9-4a9e-9ed0-c9057e35dbdc</vt:lpwstr>
  </property>
  <property fmtid="{D5CDD505-2E9C-101B-9397-08002B2CF9AE}" pid="8" name="MSIP_Label_38b525e5-f3da-4501-8f1e-526b6769fc56_ContentBits">
    <vt:lpwstr>0</vt:lpwstr>
  </property>
  <property fmtid="{D5CDD505-2E9C-101B-9397-08002B2CF9AE}" pid="9" name="MSIP_Label_38b525e5-f3da-4501-8f1e-526b6769fc56_Tag">
    <vt:lpwstr>10, 3, 0, 1</vt:lpwstr>
  </property>
</Properties>
</file>